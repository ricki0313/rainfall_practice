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B3"/>
    <a:srgbClr val="BEBE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957" autoAdjust="0"/>
    <p:restoredTop sz="95184" autoAdjust="0"/>
  </p:normalViewPr>
  <p:slideViewPr>
    <p:cSldViewPr snapToGrid="0">
      <p:cViewPr varScale="1">
        <p:scale>
          <a:sx n="85" d="100"/>
          <a:sy n="85" d="100"/>
        </p:scale>
        <p:origin x="686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F26E95-540F-6A67-2877-0B9F1739A1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E222F1A-E08D-4C1C-F8CA-591F190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5A33349-2780-F1DE-877F-03BB6D254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45493-35B4-4159-803A-59E339B62678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933BD3D-261A-8ADE-B11E-72D37ECA3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32AB320-4EDA-25CB-56AE-BB31BF25B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E076-2A18-427D-A700-60B748044E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464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211F6C-5C17-1FAE-B4E3-E078E78AA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C5557E4-CB46-CF64-B8BD-153F54443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8F61226-E078-333C-E7D4-F1E6B76AB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45493-35B4-4159-803A-59E339B62678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BF9B423-FCD7-629C-5B4E-D590DE948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A077F8A-1E3F-21A0-942F-1A52A58C3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E076-2A18-427D-A700-60B748044E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9845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33BD06-0FDE-D5B8-42EC-740BDEC1F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EF3DC64-B25B-03CD-28CA-4DFA19955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A495616-066C-8740-8A65-9B3C26AAE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45493-35B4-4159-803A-59E339B62678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2AC7D99-8BD0-C3B3-DE8E-A415DFDAD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0DDF187-28A3-3851-C904-6813A969B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E076-2A18-427D-A700-60B748044E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4070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CD396B-EDFC-705C-2F3B-0407E0D0D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009E43B-0A44-2F0A-BB3C-2F9362E86C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DD443EE-530F-90D8-E2FC-6047B3E4D9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1822C6C-A13F-E709-543E-0F6F0A4B8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45493-35B4-4159-803A-59E339B62678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673E542-CEFA-B78D-A2E6-E791F4878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19C2518-6C34-7810-FC0D-94B499325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E076-2A18-427D-A700-60B748044E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0372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631AA3-5327-62F8-A4FA-4D2E1DBA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CD321CC-70C6-7764-FC92-A16B905F70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B52C95A-F0C6-240C-44F8-18A813DC8B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361842E-E182-8B6A-A89F-AA7A1407AD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23E197F-E0DE-4E3E-E23F-066BC4C753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AD0CD9D-2133-3947-AF69-2A49C9883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45493-35B4-4159-803A-59E339B62678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922621C-59F0-CFC9-82CA-A6D337D35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5897ABC-D3BD-AFEE-5799-C1510A3E3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E076-2A18-427D-A700-60B748044E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0255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BFC434-0D3F-DF78-0169-736564664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0166A15-E36D-5637-8DF7-ED416E5DE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45493-35B4-4159-803A-59E339B62678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2FF5426-2361-3F3C-B14D-24D9409B4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47CD0D9-DAD0-0200-9B7E-E84CDD2A5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E076-2A18-427D-A700-60B748044E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6814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CAFBC21-3231-1C39-FC11-926EC4FFF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45493-35B4-4159-803A-59E339B62678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B812E6B-3661-7435-7A81-77B00A8F3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DA3FD86-F33B-517B-74EC-4E9E53050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E076-2A18-427D-A700-60B748044E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3512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A3171F-75F0-A63D-7DD5-152E5D932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F656AC8-8BD4-A46D-12D6-BFC5D0C1F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D8B0F5A-DBC7-3B30-F76C-9AF6959B43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88E2D67-0C57-0687-61AC-ABABE020F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45493-35B4-4159-803A-59E339B62678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764CB42-89CF-7935-3998-59BA63755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AE4B7B5-0C46-FB95-287C-3A6E5D790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E076-2A18-427D-A700-60B748044E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4034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243C97-1E6B-A362-92C1-4C0B4C2AF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C7D2458-AC1B-0BC9-3ADE-FF671642A3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69E334D-C736-FDB6-CF05-DB7CCFDCB8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F5891D9-135E-7EC7-19AA-CEA9F2628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45493-35B4-4159-803A-59E339B62678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4DF7F3F-8EC0-C5C8-B762-A75C9D763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2F98B1D-F893-263B-ACAB-84A2DA72C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E076-2A18-427D-A700-60B748044E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1375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476F06-C35A-2407-A105-46583C142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70C96A1-2F64-5CAD-3C0E-C4B722B893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2D5715E-594B-DE9D-2B2F-707EBE3DF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45493-35B4-4159-803A-59E339B62678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883F906-E7C7-F692-C39A-49A3309E8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21B1C4B-E16F-A8C4-9455-72D4E9F05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E076-2A18-427D-A700-60B748044E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7646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81CB110-D20D-EE44-8F17-2AD6EF1DD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E98B36C-525B-40FB-0616-E10ED90A2B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F2FE02B-6573-2A34-C181-0CA2B46A1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45493-35B4-4159-803A-59E339B62678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B56AFA2-0EE0-A258-77F9-61D82A9F4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ED799FB-2AA0-1A14-8FDC-4E41F161A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E076-2A18-427D-A700-60B748044E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9742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AA68FDE-F45F-5C35-0D4F-54B089D9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EFFE46C-AEA8-5791-8702-D8303FC8FB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521DB7A-A06C-9A02-569E-D551F1C5EA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A45493-35B4-4159-803A-59E339B62678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D77FC9B-F999-EC99-2D8A-E7BF423239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0C2D60D-376B-EBF4-5696-54F1EAD84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54E076-2A18-427D-A700-60B748044E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4959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18.png"/><Relationship Id="rId5" Type="http://schemas.microsoft.com/office/2007/relationships/hdphoto" Target="../media/hdphoto1.wdp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圓角 3">
            <a:extLst>
              <a:ext uri="{FF2B5EF4-FFF2-40B4-BE49-F238E27FC236}">
                <a16:creationId xmlns:a16="http://schemas.microsoft.com/office/drawing/2014/main" id="{23849D50-B317-EA3F-5CF1-7FEA3DDEFDE4}"/>
              </a:ext>
            </a:extLst>
          </p:cNvPr>
          <p:cNvSpPr/>
          <p:nvPr/>
        </p:nvSpPr>
        <p:spPr>
          <a:xfrm>
            <a:off x="1223963" y="2332831"/>
            <a:ext cx="9744075" cy="1468438"/>
          </a:xfrm>
          <a:prstGeom prst="roundRect">
            <a:avLst/>
          </a:prstGeom>
          <a:solidFill>
            <a:srgbClr val="3333B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Cleaning and Analysis of Special Codes in Automatic Station Rainfall Data</a:t>
            </a:r>
            <a:endParaRPr lang="zh-TW" altLang="en-US" sz="32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215BB4B-36FE-3544-1992-EDFEB580BDFC}"/>
              </a:ext>
            </a:extLst>
          </p:cNvPr>
          <p:cNvSpPr txBox="1"/>
          <p:nvPr/>
        </p:nvSpPr>
        <p:spPr>
          <a:xfrm>
            <a:off x="3048000" y="395356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8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YUNG-CHUN LAN</a:t>
            </a:r>
            <a:endParaRPr lang="zh-TW" altLang="en-US" sz="28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BE03FDF-0205-5835-F8DE-290AAD717C52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131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5F521B3-0AC9-CEAD-22CD-A73D17DC94D4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Outline</a:t>
            </a:r>
            <a:endParaRPr lang="zh-TW" altLang="en-US" sz="2800" dirty="0">
              <a:latin typeface="標楷體" panose="03000509000000000000" pitchFamily="65" charset="-12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B91E72-2285-40AA-2820-006E0B468543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1/20</a:t>
            </a:r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E95B9AB-06F7-F053-2105-E56BBA3152F2}"/>
              </a:ext>
            </a:extLst>
          </p:cNvPr>
          <p:cNvSpPr txBox="1"/>
          <p:nvPr/>
        </p:nvSpPr>
        <p:spPr>
          <a:xfrm>
            <a:off x="935392" y="2297921"/>
            <a:ext cx="7739380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PP01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(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資料探索、生成機制、分析、處理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12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月累積雨量網格製作</a:t>
            </a:r>
            <a:endParaRPr lang="en-US" altLang="zh-TW" sz="24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Simple Kriging &amp; Spherical Variogram 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數學推導概述</a:t>
            </a:r>
            <a:endParaRPr lang="en-US" altLang="zh-TW" sz="24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Simple Kriging &amp; Spherical Variogram 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手寫推導</a:t>
            </a:r>
            <a:endParaRPr lang="zh-TW" altLang="en-US" sz="2400" dirty="0">
              <a:latin typeface="CMU Serif" panose="02000603000000000000" pitchFamily="2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31183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BF3F5-159C-5B4C-1F7B-93BE2377E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FC46CB3-7A9E-F1C3-BD6C-AB876346C120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2/20</a:t>
            </a:r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2269C20-42DF-83D4-2264-6AA8FD50C95D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  <a:cs typeface="CMU Serif" panose="02000603000000000000" pitchFamily="2" charset="0"/>
              </a:rPr>
              <a:t> 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PP01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資料探索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4B307AD-AF99-46E8-3BC7-D0AFA3149CC3}"/>
              </a:ext>
            </a:extLst>
          </p:cNvPr>
          <p:cNvSpPr txBox="1"/>
          <p:nvPr/>
        </p:nvSpPr>
        <p:spPr>
          <a:xfrm>
            <a:off x="1202532" y="1129641"/>
            <a:ext cx="45247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PP01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 欄位內容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:</a:t>
            </a:r>
          </a:p>
          <a:p>
            <a:pPr indent="-342900">
              <a:buClr>
                <a:srgbClr val="3333B3"/>
              </a:buClr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總列數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: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 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469170</a:t>
            </a:r>
          </a:p>
          <a:p>
            <a:pPr indent="-342900">
              <a:buClr>
                <a:srgbClr val="3333B3"/>
              </a:buClr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-999.1(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儀器故障待修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): 4464</a:t>
            </a:r>
          </a:p>
          <a:p>
            <a:pPr indent="-342900">
              <a:buClr>
                <a:srgbClr val="3333B3"/>
              </a:buClr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-999.6(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資料累積於後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): 13715</a:t>
            </a:r>
          </a:p>
          <a:p>
            <a:pPr indent="-342900">
              <a:buClr>
                <a:srgbClr val="3333B3"/>
              </a:buClr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-999.5(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因故障而無資料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): 189</a:t>
            </a:r>
          </a:p>
          <a:p>
            <a:pPr indent="-342900">
              <a:buClr>
                <a:srgbClr val="3333B3"/>
              </a:buClr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None(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未觀測而無資料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): 1176</a:t>
            </a:r>
            <a:endParaRPr lang="zh-TW" altLang="en-US" sz="2400" dirty="0">
              <a:latin typeface="CMU Serif" panose="02000603000000000000" pitchFamily="2" charset="0"/>
              <a:ea typeface="標楷體" panose="03000509000000000000" pitchFamily="65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6E307DC-C6BA-60F3-DB4A-73395476A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9919" y="865342"/>
            <a:ext cx="4962925" cy="5498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253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0ABA75F-FD9E-3ACE-C3BC-8B9954CFCE29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3/20</a:t>
            </a:r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B39D13C-5521-5E63-2B78-C688667C80A2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  <a:cs typeface="CMU Serif" panose="02000603000000000000" pitchFamily="2" charset="0"/>
              </a:rPr>
              <a:t> 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PP01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資料生成機制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9E5565D-29A3-D1E8-8C42-FC985B07CA47}"/>
              </a:ext>
            </a:extLst>
          </p:cNvPr>
          <p:cNvSpPr txBox="1"/>
          <p:nvPr/>
        </p:nvSpPr>
        <p:spPr>
          <a:xfrm>
            <a:off x="526256" y="1260247"/>
            <a:ext cx="575071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雨水過濾斗，進入接水器，累積 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0.5mm 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後將水傾倒，產生脈衝信號，傳輸到紀錄器上，因此可看到 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PP01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 資料是以 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0.5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 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mm 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為單位</a:t>
            </a: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379349BE-8362-6A8A-2E05-285D460D40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250" y="1695092"/>
            <a:ext cx="4953000" cy="3724275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BD886365-5438-17D5-F18C-705F70D134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505" y="2942867"/>
            <a:ext cx="5568220" cy="2913402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06FCDE18-947C-C536-B661-76ED7F87955D}"/>
              </a:ext>
            </a:extLst>
          </p:cNvPr>
          <p:cNvSpPr txBox="1"/>
          <p:nvPr/>
        </p:nvSpPr>
        <p:spPr>
          <a:xfrm>
            <a:off x="5461565" y="6254948"/>
            <a:ext cx="67970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  <a:cs typeface="CMU Serif" panose="02000603000000000000" pitchFamily="2" charset="0"/>
              </a:rPr>
              <a:t>Source: </a:t>
            </a:r>
            <a:r>
              <a:rPr lang="zh-TW" altLang="en-US" sz="1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中央氣象署官網 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  <a:cs typeface="CMU Serif" panose="02000603000000000000" pitchFamily="2" charset="0"/>
              </a:rPr>
              <a:t>(https://south.cwa.gov.tw/inner/meck1572422009QjcD)</a:t>
            </a:r>
            <a:endParaRPr lang="zh-TW" altLang="en-US" sz="14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729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E2D33-155F-7EED-0FD4-46DF9DF0F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D79C492-30D9-FE12-D774-B089F6430840}"/>
              </a:ext>
            </a:extLst>
          </p:cNvPr>
          <p:cNvSpPr/>
          <p:nvPr/>
        </p:nvSpPr>
        <p:spPr>
          <a:xfrm>
            <a:off x="0" y="6562726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4/20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A2C6802-9BBB-2BEA-27C8-CC7279933566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-999.6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分析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BEC9ACB3-2FEA-2BAF-97D9-1E685D24039E}"/>
              </a:ext>
            </a:extLst>
          </p:cNvPr>
          <p:cNvSpPr txBox="1"/>
          <p:nvPr/>
        </p:nvSpPr>
        <p:spPr>
          <a:xfrm>
            <a:off x="3257838" y="2046711"/>
            <a:ext cx="58272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Reference:</a:t>
            </a:r>
            <a:r>
              <a:rPr lang="zh-TW" altLang="en-US" sz="12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國家災害防救科技中心氣象組 </a:t>
            </a:r>
            <a:r>
              <a:rPr lang="en-US" altLang="zh-TW" sz="12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– </a:t>
            </a:r>
            <a:r>
              <a:rPr lang="zh-TW" altLang="en-US" sz="12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台灣地區短延時強降雨事件氣候特性分析</a:t>
            </a:r>
            <a:endParaRPr lang="en-US" altLang="zh-TW" sz="12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r>
              <a:rPr lang="zh-TW" altLang="en-US" sz="12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二、資料、定義與分析方法</a:t>
            </a:r>
            <a:r>
              <a:rPr lang="en-US" altLang="zh-TW" sz="12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(https://reurl.cc/dqN0x8)</a:t>
            </a:r>
            <a:endParaRPr lang="zh-TW" altLang="en-US" sz="12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6D3ED6F-2887-544C-FCEC-3F122ABA502B}"/>
              </a:ext>
            </a:extLst>
          </p:cNvPr>
          <p:cNvSpPr txBox="1"/>
          <p:nvPr/>
        </p:nvSpPr>
        <p:spPr>
          <a:xfrm>
            <a:off x="488156" y="1213098"/>
            <a:ext cx="88844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工程邏輯上，出現無線電訊號中斷，該時間點會標記為 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-999.6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，並在恢復信號時間點將中斷期間的雨量觀測累加於後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392AEC6-24D1-AEB8-EABF-2D55152FF12F}"/>
              </a:ext>
            </a:extLst>
          </p:cNvPr>
          <p:cNvSpPr txBox="1"/>
          <p:nvPr/>
        </p:nvSpPr>
        <p:spPr>
          <a:xfrm>
            <a:off x="488156" y="2784723"/>
            <a:ext cx="842276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資料分析層面，使用資料累積於後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(-999.6)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，而不是直接補上斷訊期間脈衝，推測回補機制並非 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100% 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可靠。</a:t>
            </a:r>
            <a:endParaRPr lang="en-US" altLang="zh-TW" sz="2400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endParaRPr lang="en-US" altLang="zh-TW" sz="2400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我們也能觀察到 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0 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  <a:sym typeface="Wingdings" panose="05000000000000000000" pitchFamily="2" charset="2"/>
              </a:rPr>
              <a:t>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-999.6 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  <a:sym typeface="Wingdings" panose="05000000000000000000" pitchFamily="2" charset="2"/>
              </a:rPr>
              <a:t>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0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的數據，在此情況卻不將 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-999.6 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設定為 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0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，顯示其不確定性。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3420DB60-466E-D41D-025B-75003B95D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2124" y="2041952"/>
            <a:ext cx="905001" cy="4429743"/>
          </a:xfrm>
          <a:prstGeom prst="rect">
            <a:avLst/>
          </a:prstGeom>
        </p:spPr>
      </p:pic>
      <p:sp>
        <p:nvSpPr>
          <p:cNvPr id="12" name="橢圓 11">
            <a:extLst>
              <a:ext uri="{FF2B5EF4-FFF2-40B4-BE49-F238E27FC236}">
                <a16:creationId xmlns:a16="http://schemas.microsoft.com/office/drawing/2014/main" id="{1D0B570F-A5F5-5ECA-60F1-BC4462D572F1}"/>
              </a:ext>
            </a:extLst>
          </p:cNvPr>
          <p:cNvSpPr/>
          <p:nvPr/>
        </p:nvSpPr>
        <p:spPr>
          <a:xfrm>
            <a:off x="9591675" y="5029200"/>
            <a:ext cx="1581150" cy="8382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20882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8A474-B399-D849-C454-780A4AEF9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8DCB232-3844-4AC8-F738-F0F7BD9F9A6C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5/20</a:t>
            </a:r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3F9CEFB-5908-A160-40DF-C5158F0336BC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-999.6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處理原則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52EC8EC-084F-1E44-5E00-33F0DB5E60B0}"/>
              </a:ext>
            </a:extLst>
          </p:cNvPr>
          <p:cNvSpPr txBox="1"/>
          <p:nvPr/>
        </p:nvSpPr>
        <p:spPr>
          <a:xfrm>
            <a:off x="989620" y="1388003"/>
            <a:ext cx="848607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參考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Classical Serif" panose="02000603000000000000" pitchFamily="2" charset="0"/>
              </a:rPr>
              <a:t>Guide to Climatological Practices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rPr>
              <a:t>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(WMO-No.100)</a:t>
            </a:r>
          </a:p>
          <a:p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提及之氣象資料缺失值處理原則，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-999.6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處理方式如下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</a:p>
          <a:p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不更動原數據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新增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rPr>
              <a:t>PP01_cleaned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 欄位，將各種原因導致之遺失值全部改為 </a:t>
            </a:r>
            <a:r>
              <a:rPr lang="en-US" altLang="zh-TW" sz="2000" dirty="0" err="1">
                <a:latin typeface="CMU Serif" panose="02000603000000000000" pitchFamily="2" charset="0"/>
                <a:ea typeface="標楷體" panose="03000509000000000000" pitchFamily="65" charset="-120"/>
              </a:rPr>
              <a:t>na</a:t>
            </a:r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pPr marL="457200" indent="-457200">
              <a:buFont typeface="+mj-lt"/>
              <a:buAutoNum type="arabicPeriod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新增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rPr>
              <a:t>PP01_accumulated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 欄位，出現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rPr>
              <a:t>-999.6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 及標註為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rPr>
              <a:t>True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新增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rPr>
              <a:t>PP01_caaumulated 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欄位標註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rPr>
              <a:t>-999.6 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影響範圍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rPr>
              <a:t>-999.6: 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標示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rPr>
              <a:t>True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rPr>
              <a:t>-999.6 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且下一列不為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rPr>
              <a:t>0: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 下一列標示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rPr>
              <a:t>True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rPr>
              <a:t>-999.6 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且下一列為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rPr>
              <a:t>0: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 下一列標示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rPr>
              <a:t>False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分析者可根據不同需求使用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mask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73B0945-D80A-7847-6F0E-902CEC73B67F}"/>
              </a:ext>
            </a:extLst>
          </p:cNvPr>
          <p:cNvSpPr txBox="1"/>
          <p:nvPr/>
        </p:nvSpPr>
        <p:spPr>
          <a:xfrm>
            <a:off x="3487410" y="6254948"/>
            <a:ext cx="87045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Reference: </a:t>
            </a:r>
            <a:r>
              <a:rPr lang="en-US" altLang="zh-TW" sz="14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Guide to Climatological Practices</a:t>
            </a:r>
            <a:r>
              <a:rPr lang="en-US" altLang="zh-TW" sz="1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(WMO-No.100): 2.4.5 Quality Control</a:t>
            </a:r>
            <a:r>
              <a:rPr lang="zh-TW" altLang="en-US" sz="1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n-US" altLang="zh-TW" sz="1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&amp;</a:t>
            </a:r>
            <a:r>
              <a:rPr lang="zh-TW" altLang="en-US" sz="1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n-US" altLang="zh-TW" sz="1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3.5.8</a:t>
            </a:r>
            <a:r>
              <a:rPr lang="zh-TW" altLang="en-US" sz="1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n-US" altLang="zh-TW" sz="1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Data Estimation</a:t>
            </a:r>
            <a:r>
              <a:rPr lang="zh-TW" altLang="en-US" sz="1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 </a:t>
            </a:r>
            <a:endParaRPr lang="en-US" altLang="zh-TW" sz="14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F7B63B6-7E91-3C64-7771-C314164B1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776" y="4219118"/>
            <a:ext cx="5212615" cy="1293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499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9A5C9-1252-CB57-3661-F617B3ED9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2CEA76A-72FC-4C7E-2D42-145BB82234FB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6/20</a:t>
            </a:r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8BD6FB5-E3F4-35F3-171E-310A03A05A1B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12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月累積雨量網格資料製作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4590A6D-F5FA-9015-FC40-32F14E29E798}"/>
              </a:ext>
            </a:extLst>
          </p:cNvPr>
          <p:cNvSpPr txBox="1"/>
          <p:nvPr/>
        </p:nvSpPr>
        <p:spPr>
          <a:xfrm>
            <a:off x="633029" y="1074237"/>
            <a:ext cx="926306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目標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參考氣象署雨量網格化生產履歷，產出全台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12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月月雨量網格資料</a:t>
            </a:r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資料需求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rPr>
              <a:t>: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 測站月雨量、測站經緯度</a:t>
            </a:r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月雨量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rPr>
              <a:t>: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 以測站為單位，將同測站逐時雨量加總</a:t>
            </a:r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測站經緯度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rPr>
              <a:t>: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 爬取中央氣象署雨量觀測站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rPr>
              <a:t>-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雨量資料（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rPr>
              <a:t>O-A0002-001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）</a:t>
            </a:r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欄位包含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rPr>
              <a:t>: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 </a:t>
            </a:r>
            <a:r>
              <a:rPr lang="en-US" altLang="zh-TW" sz="2000" dirty="0" err="1">
                <a:latin typeface="CMU Serif" panose="02000603000000000000" pitchFamily="2" charset="0"/>
                <a:ea typeface="標楷體" panose="03000509000000000000" pitchFamily="65" charset="-120"/>
              </a:rPr>
              <a:t>stno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、</a:t>
            </a:r>
            <a:r>
              <a:rPr lang="en-US" altLang="zh-TW" sz="2000" dirty="0" err="1">
                <a:latin typeface="CMU Serif" panose="02000603000000000000" pitchFamily="2" charset="0"/>
                <a:ea typeface="標楷體" panose="03000509000000000000" pitchFamily="65" charset="-120"/>
              </a:rPr>
              <a:t>lon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、</a:t>
            </a:r>
            <a:r>
              <a:rPr lang="en-US" altLang="zh-TW" sz="2000" dirty="0" err="1">
                <a:latin typeface="CMU Serif" panose="02000603000000000000" pitchFamily="2" charset="0"/>
                <a:ea typeface="標楷體" panose="03000509000000000000" pitchFamily="65" charset="-120"/>
              </a:rPr>
              <a:t>lat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、</a:t>
            </a:r>
            <a:r>
              <a:rPr lang="en-US" altLang="zh-TW" sz="2000" dirty="0" err="1">
                <a:latin typeface="CMU Serif" panose="02000603000000000000" pitchFamily="2" charset="0"/>
                <a:ea typeface="標楷體" panose="03000509000000000000" pitchFamily="65" charset="-120"/>
              </a:rPr>
              <a:t>rain_dec</a:t>
            </a:r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</a:endParaRP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6892F524-924F-68D4-8738-51D172510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602471"/>
            <a:ext cx="5803490" cy="2738594"/>
          </a:xfrm>
          <a:prstGeom prst="rect">
            <a:avLst/>
          </a:prstGeom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EF1B8733-A3B4-1B79-7F62-65D79E4C2637}"/>
              </a:ext>
            </a:extLst>
          </p:cNvPr>
          <p:cNvSpPr txBox="1"/>
          <p:nvPr/>
        </p:nvSpPr>
        <p:spPr>
          <a:xfrm>
            <a:off x="4563036" y="5414431"/>
            <a:ext cx="762896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>
                <a:latin typeface="CMU Serif" panose="02000603000000000000" pitchFamily="2" charset="0"/>
                <a:ea typeface="標楷體" panose="03000509000000000000" pitchFamily="65" charset="-120"/>
                <a:cs typeface="CMU Classical Serif" panose="02000603000000000000" pitchFamily="2" charset="0"/>
              </a:rPr>
              <a:t>Source:</a:t>
            </a:r>
          </a:p>
          <a:p>
            <a:r>
              <a:rPr lang="zh-TW" altLang="en-US" sz="1400" dirty="0">
                <a:latin typeface="CMU Serif" panose="02000603000000000000" pitchFamily="2" charset="0"/>
                <a:ea typeface="標楷體" panose="03000509000000000000" pitchFamily="65" charset="-120"/>
              </a:rPr>
              <a:t>中央氣象署雨量網格化生產履歷</a:t>
            </a:r>
            <a:r>
              <a:rPr lang="en-US" altLang="zh-TW" sz="1400" dirty="0">
                <a:latin typeface="CMU Serif" panose="02000603000000000000" pitchFamily="2" charset="0"/>
                <a:ea typeface="標楷體" panose="03000509000000000000" pitchFamily="65" charset="-120"/>
              </a:rPr>
              <a:t>:</a:t>
            </a:r>
            <a:r>
              <a:rPr lang="zh-TW" altLang="en-US" sz="1400" dirty="0">
                <a:latin typeface="CMU Serif" panose="02000603000000000000" pitchFamily="2" charset="0"/>
                <a:ea typeface="標楷體" panose="03000509000000000000" pitchFamily="65" charset="-120"/>
              </a:rPr>
              <a:t> </a:t>
            </a:r>
            <a:r>
              <a:rPr lang="en-US" altLang="zh-TW" sz="1400" dirty="0">
                <a:latin typeface="CMU Serif" panose="02000603000000000000" pitchFamily="2" charset="0"/>
                <a:ea typeface="標楷體" panose="03000509000000000000" pitchFamily="65" charset="-120"/>
              </a:rPr>
              <a:t>https://www.cwa.gov.tw/Data/data_catalog/2-3-6-a.pdf</a:t>
            </a:r>
            <a:endParaRPr lang="en-US" altLang="zh-TW" sz="1400" dirty="0">
              <a:latin typeface="CMU Serif" panose="02000603000000000000" pitchFamily="2" charset="0"/>
              <a:ea typeface="標楷體" panose="03000509000000000000" pitchFamily="65" charset="-120"/>
              <a:cs typeface="CMU Classical Serif" panose="02000603000000000000" pitchFamily="2" charset="0"/>
            </a:endParaRPr>
          </a:p>
          <a:p>
            <a:r>
              <a:rPr lang="zh-TW" altLang="en-US" sz="1400" dirty="0">
                <a:latin typeface="CMU Serif" panose="02000603000000000000" pitchFamily="2" charset="0"/>
                <a:ea typeface="標楷體" panose="03000509000000000000" pitchFamily="65" charset="-120"/>
              </a:rPr>
              <a:t>中央氣象署雨量觀測站資料</a:t>
            </a:r>
            <a:r>
              <a:rPr lang="en-US" altLang="zh-TW" sz="1400" dirty="0">
                <a:latin typeface="CMU Serif" panose="02000603000000000000" pitchFamily="2" charset="0"/>
                <a:ea typeface="標楷體" panose="03000509000000000000" pitchFamily="65" charset="-120"/>
              </a:rPr>
              <a:t>:</a:t>
            </a:r>
            <a:r>
              <a:rPr lang="zh-TW" altLang="en-US" sz="1400" dirty="0">
                <a:latin typeface="CMU Serif" panose="02000603000000000000" pitchFamily="2" charset="0"/>
                <a:ea typeface="標楷體" panose="03000509000000000000" pitchFamily="65" charset="-120"/>
              </a:rPr>
              <a:t>  </a:t>
            </a:r>
            <a:r>
              <a:rPr lang="en-US" altLang="zh-TW" sz="1400" dirty="0">
                <a:latin typeface="CMU Serif" panose="02000603000000000000" pitchFamily="2" charset="0"/>
                <a:ea typeface="標楷體" panose="03000509000000000000" pitchFamily="65" charset="-120"/>
              </a:rPr>
              <a:t>https://opendata.cwa.gov.tw/dataset/observation/O-A0002-001?</a:t>
            </a:r>
            <a:endParaRPr lang="en-US" altLang="zh-TW" sz="14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250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DE3C3-5FE5-0327-FA0C-42CF80F0F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1B3E2B6-1671-8682-705C-1B28FC74813B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7/20</a:t>
            </a:r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C17C1CF-4309-71B8-F6A6-4D1B0226B10E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12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月累積雨量網格資料製作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–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建立全台網格系統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ADA37F8-359F-0C29-FB8A-C67D47F0CB48}"/>
              </a:ext>
            </a:extLst>
          </p:cNvPr>
          <p:cNvSpPr txBox="1"/>
          <p:nvPr/>
        </p:nvSpPr>
        <p:spPr>
          <a:xfrm>
            <a:off x="776288" y="1232898"/>
            <a:ext cx="531971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設定網格空間範圍：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左下角經緯度為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(117.43, 20.76)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右上角經緯度為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(123.92, 26.70)</a:t>
            </a:r>
          </a:p>
          <a:p>
            <a:pPr marL="342900" indent="-342900">
              <a:buFont typeface="+mj-lt"/>
              <a:buAutoNum type="arabicPeriod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設定網格解析度：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2.5 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公里解析度，網格大小為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260 × 260</a:t>
            </a:r>
            <a:endParaRPr lang="zh-TW" altLang="en-US" sz="200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1003265C-0BE8-7F81-37A7-582C45EB0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463" y="2953021"/>
            <a:ext cx="6973273" cy="295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418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6264A-C25C-AC0C-2B1B-6980D7BA1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9C3E825-40C4-C4F5-FF2D-32D883F2F5A3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8/20</a:t>
            </a:r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15C61B-16ED-EA20-6930-4A75379CFB14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12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月累積雨量網格資料製作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–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網格點雨量估計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527B52E-B05E-B92E-4A11-1FCB39B0B2CA}"/>
              </a:ext>
            </a:extLst>
          </p:cNvPr>
          <p:cNvSpPr txBox="1"/>
          <p:nvPr/>
        </p:nvSpPr>
        <p:spPr>
          <a:xfrm>
            <a:off x="223838" y="1019176"/>
            <a:ext cx="5738812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使用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Simple Kriging Interpolation </a:t>
            </a:r>
          </a:p>
          <a:p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估計網格點雨量</a:t>
            </a:r>
            <a:endParaRPr lang="en-US" altLang="zh-TW" sz="24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endParaRPr lang="en-US" altLang="zh-TW" sz="24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相關設置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Mean = 0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(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附近無測站地區估計 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0)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Bin = 20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Variogram model: Spherical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Nugget 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手動調參，不參與訓練</a:t>
            </a:r>
            <a:endParaRPr lang="en-US" altLang="zh-TW" sz="24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r>
              <a:rPr lang="en-US" altLang="zh-TW" sz="16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(</a:t>
            </a:r>
            <a:r>
              <a:rPr lang="zh-TW" altLang="en-US" sz="16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詳細推導與方法說明見附錄</a:t>
            </a:r>
            <a:r>
              <a:rPr lang="en-US" altLang="zh-TW" sz="16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)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51858D4-0C84-067B-E8C7-8936E118E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9862" y="781051"/>
            <a:ext cx="6435938" cy="5413562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93FE1DC1-0D28-3F09-E067-B81AA0C962F6}"/>
              </a:ext>
            </a:extLst>
          </p:cNvPr>
          <p:cNvSpPr txBox="1"/>
          <p:nvPr/>
        </p:nvSpPr>
        <p:spPr>
          <a:xfrm>
            <a:off x="5605" y="5778794"/>
            <a:ext cx="12039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>
                <a:latin typeface="CMU Serif" panose="02000603000000000000" pitchFamily="2" charset="0"/>
                <a:ea typeface="標楷體" panose="03000509000000000000" pitchFamily="65" charset="-120"/>
                <a:cs typeface="CMU Classical Serif" panose="02000603000000000000" pitchFamily="2" charset="0"/>
              </a:rPr>
              <a:t>Reference:</a:t>
            </a:r>
            <a:r>
              <a:rPr lang="zh-TW" altLang="en-US" sz="1200" dirty="0">
                <a:latin typeface="CMU Serif" panose="02000603000000000000" pitchFamily="2" charset="0"/>
                <a:ea typeface="標楷體" panose="03000509000000000000" pitchFamily="65" charset="-120"/>
                <a:cs typeface="CMU Classical Serif" panose="02000603000000000000" pitchFamily="2" charset="0"/>
              </a:rPr>
              <a:t> </a:t>
            </a:r>
            <a:endParaRPr lang="en-US" altLang="zh-TW" sz="1200" dirty="0">
              <a:latin typeface="CMU Serif" panose="02000603000000000000" pitchFamily="2" charset="0"/>
              <a:ea typeface="標楷體" panose="03000509000000000000" pitchFamily="65" charset="-120"/>
              <a:cs typeface="CMU Classical Serif" panose="02000603000000000000" pitchFamily="2" charset="0"/>
            </a:endParaRPr>
          </a:p>
          <a:p>
            <a:r>
              <a:rPr lang="en-US" altLang="zh-TW" sz="1200" dirty="0" err="1">
                <a:latin typeface="CMU Serif" panose="02000603000000000000" pitchFamily="2" charset="0"/>
                <a:ea typeface="標楷體" panose="03000509000000000000" pitchFamily="65" charset="-120"/>
                <a:cs typeface="CMU Classical Serif" panose="02000603000000000000" pitchFamily="2" charset="0"/>
              </a:rPr>
              <a:t>gstools</a:t>
            </a:r>
            <a:r>
              <a:rPr lang="en-US" altLang="zh-TW" sz="1200" dirty="0">
                <a:latin typeface="CMU Serif" panose="02000603000000000000" pitchFamily="2" charset="0"/>
                <a:ea typeface="標楷體" panose="03000509000000000000" pitchFamily="65" charset="-120"/>
                <a:cs typeface="CMU Classical Serif" panose="02000603000000000000" pitchFamily="2" charset="0"/>
              </a:rPr>
              <a:t> </a:t>
            </a:r>
            <a:r>
              <a:rPr lang="zh-TW" altLang="en-US" sz="1200" dirty="0">
                <a:latin typeface="CMU Serif" panose="02000603000000000000" pitchFamily="2" charset="0"/>
                <a:ea typeface="標楷體" panose="03000509000000000000" pitchFamily="65" charset="-120"/>
                <a:cs typeface="CMU Classical Serif" panose="02000603000000000000" pitchFamily="2" charset="0"/>
              </a:rPr>
              <a:t>官方 </a:t>
            </a:r>
            <a:r>
              <a:rPr lang="en-US" altLang="zh-TW" sz="1200" dirty="0">
                <a:latin typeface="CMU Serif" panose="02000603000000000000" pitchFamily="2" charset="0"/>
                <a:ea typeface="標楷體" panose="03000509000000000000" pitchFamily="65" charset="-120"/>
                <a:cs typeface="CMU Classical Serif" panose="02000603000000000000" pitchFamily="2" charset="0"/>
              </a:rPr>
              <a:t>documentation</a:t>
            </a:r>
          </a:p>
          <a:p>
            <a:r>
              <a:rPr lang="en-US" altLang="zh-TW" sz="12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Guide to Climatological Practices</a:t>
            </a:r>
            <a:r>
              <a:rPr lang="en-US" altLang="zh-TW" sz="1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(WMO-No.100): 2.4.5 Quality Control</a:t>
            </a:r>
            <a:r>
              <a:rPr lang="zh-TW" altLang="en-US" sz="1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n-US" altLang="zh-TW" sz="1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&amp;</a:t>
            </a:r>
            <a:r>
              <a:rPr lang="zh-TW" altLang="en-US" sz="1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n-US" altLang="zh-TW" sz="1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3.5.8</a:t>
            </a:r>
            <a:r>
              <a:rPr lang="zh-TW" altLang="en-US" sz="1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n-US" altLang="zh-TW" sz="1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Data Estimation</a:t>
            </a:r>
            <a:endParaRPr lang="en-US" altLang="zh-TW" sz="1200" dirty="0">
              <a:latin typeface="CMU Serif" panose="02000603000000000000" pitchFamily="2" charset="0"/>
              <a:ea typeface="標楷體" panose="03000509000000000000" pitchFamily="65" charset="-120"/>
              <a:cs typeface="CMU Classical Serif" panose="02000603000000000000" pitchFamily="2" charset="0"/>
            </a:endParaRPr>
          </a:p>
          <a:p>
            <a:r>
              <a:rPr lang="en-US" altLang="zh-TW" sz="12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https://geostat-framework.readthedocs.io/projects/gstools/en/stable/examples/03_variogram/00_fit_variogram.html#sphx-glr-examples-03-variogram-00-fit-variogram-py</a:t>
            </a:r>
          </a:p>
        </p:txBody>
      </p:sp>
    </p:spTree>
    <p:extLst>
      <p:ext uri="{BB962C8B-B14F-4D97-AF65-F5344CB8AC3E}">
        <p14:creationId xmlns:p14="http://schemas.microsoft.com/office/powerpoint/2010/main" val="4040846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875F9-5A1F-A686-461E-596CBE7DA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9915953-A93E-0874-5292-DA93F5A98A10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9/20</a:t>
            </a:r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CFF6626-82B6-6753-99C9-5651138D9883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12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月累積雨量網格資料製作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– baseline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模型</a:t>
            </a:r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83A61238-2C56-D4AF-E3B6-CC36BB7B8398}"/>
              </a:ext>
            </a:extLst>
          </p:cNvPr>
          <p:cNvGrpSpPr/>
          <p:nvPr/>
        </p:nvGrpSpPr>
        <p:grpSpPr>
          <a:xfrm>
            <a:off x="288412" y="1348736"/>
            <a:ext cx="6032776" cy="1421271"/>
            <a:chOff x="481011" y="1537038"/>
            <a:chExt cx="5623200" cy="1556666"/>
          </a:xfrm>
        </p:grpSpPr>
        <p:sp>
          <p:nvSpPr>
            <p:cNvPr id="8" name="矩形: 圓角 7">
              <a:extLst>
                <a:ext uri="{FF2B5EF4-FFF2-40B4-BE49-F238E27FC236}">
                  <a16:creationId xmlns:a16="http://schemas.microsoft.com/office/drawing/2014/main" id="{45DF3A7D-6C8F-A26D-363F-1E0C30E76B8A}"/>
                </a:ext>
              </a:extLst>
            </p:cNvPr>
            <p:cNvSpPr/>
            <p:nvPr/>
          </p:nvSpPr>
          <p:spPr>
            <a:xfrm>
              <a:off x="481012" y="1559495"/>
              <a:ext cx="5614988" cy="1534209"/>
            </a:xfrm>
            <a:prstGeom prst="roundRect">
              <a:avLst>
                <a:gd name="adj" fmla="val 18267"/>
              </a:avLst>
            </a:prstGeom>
            <a:solidFill>
              <a:srgbClr val="3333B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  <a:p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sill_0 = </a:t>
              </a:r>
              <a:r>
                <a:rPr lang="en-US" altLang="zh-TW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np.nanvar</a:t>
              </a:r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(</a:t>
              </a:r>
              <a:r>
                <a:rPr lang="en-US" altLang="zh-TW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z_res</a:t>
              </a:r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)</a:t>
              </a:r>
            </a:p>
            <a:p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range_0 = 0.25 * (</a:t>
              </a:r>
              <a:r>
                <a:rPr lang="en-US" altLang="zh-TW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bin_center.max</a:t>
              </a:r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() - </a:t>
              </a:r>
              <a:r>
                <a:rPr lang="en-US" altLang="zh-TW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bin_center.min</a:t>
              </a:r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())  </a:t>
              </a:r>
            </a:p>
            <a:p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nug_0 = 0</a:t>
              </a:r>
            </a:p>
          </p:txBody>
        </p:sp>
        <p:sp>
          <p:nvSpPr>
            <p:cNvPr id="10" name="矩形: 圓角化同側角落 9">
              <a:extLst>
                <a:ext uri="{FF2B5EF4-FFF2-40B4-BE49-F238E27FC236}">
                  <a16:creationId xmlns:a16="http://schemas.microsoft.com/office/drawing/2014/main" id="{FED7396D-4435-0BD7-926B-A3A3C866CD72}"/>
                </a:ext>
              </a:extLst>
            </p:cNvPr>
            <p:cNvSpPr/>
            <p:nvPr/>
          </p:nvSpPr>
          <p:spPr>
            <a:xfrm>
              <a:off x="481011" y="1537038"/>
              <a:ext cx="5623200" cy="43463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EBE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rgbClr val="3333B3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Original parameter setting</a:t>
              </a:r>
            </a:p>
          </p:txBody>
        </p:sp>
      </p:grp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4EF92651-42F9-2446-7FDD-352A963E5F87}"/>
              </a:ext>
            </a:extLst>
          </p:cNvPr>
          <p:cNvGrpSpPr/>
          <p:nvPr/>
        </p:nvGrpSpPr>
        <p:grpSpPr>
          <a:xfrm>
            <a:off x="288412" y="2961682"/>
            <a:ext cx="6023965" cy="1421271"/>
            <a:chOff x="481011" y="1537038"/>
            <a:chExt cx="5623200" cy="1556666"/>
          </a:xfrm>
        </p:grpSpPr>
        <p:sp>
          <p:nvSpPr>
            <p:cNvPr id="13" name="矩形: 圓角 12">
              <a:extLst>
                <a:ext uri="{FF2B5EF4-FFF2-40B4-BE49-F238E27FC236}">
                  <a16:creationId xmlns:a16="http://schemas.microsoft.com/office/drawing/2014/main" id="{F7B41C38-3D73-C083-AE5C-C04A8E52C871}"/>
                </a:ext>
              </a:extLst>
            </p:cNvPr>
            <p:cNvSpPr/>
            <p:nvPr/>
          </p:nvSpPr>
          <p:spPr>
            <a:xfrm>
              <a:off x="481012" y="1559495"/>
              <a:ext cx="5614988" cy="1534209"/>
            </a:xfrm>
            <a:prstGeom prst="roundRect">
              <a:avLst>
                <a:gd name="adj" fmla="val 18267"/>
              </a:avLst>
            </a:prstGeom>
            <a:solidFill>
              <a:srgbClr val="3333B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  <a:p>
              <a:r>
                <a:rPr lang="en-US" altLang="zh-TW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sill_opt</a:t>
              </a:r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 = 13576.1648</a:t>
              </a:r>
            </a:p>
            <a:p>
              <a:r>
                <a:rPr lang="en-US" altLang="zh-TW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range_opt</a:t>
              </a:r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 = 2.3337</a:t>
              </a:r>
            </a:p>
            <a:p>
              <a:r>
                <a:rPr lang="en-US" altLang="zh-TW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nug_opt</a:t>
              </a:r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 = 0</a:t>
              </a:r>
              <a:endParaRPr lang="zh-TW" altLang="en-US" dirty="0">
                <a:latin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14" name="矩形: 圓角化同側角落 13">
              <a:extLst>
                <a:ext uri="{FF2B5EF4-FFF2-40B4-BE49-F238E27FC236}">
                  <a16:creationId xmlns:a16="http://schemas.microsoft.com/office/drawing/2014/main" id="{C15CF394-549E-EA5E-4421-367CB75B5EFD}"/>
                </a:ext>
              </a:extLst>
            </p:cNvPr>
            <p:cNvSpPr/>
            <p:nvPr/>
          </p:nvSpPr>
          <p:spPr>
            <a:xfrm>
              <a:off x="481011" y="1537038"/>
              <a:ext cx="5623200" cy="43463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EBE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rgbClr val="3333B3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Optimal result</a:t>
              </a:r>
            </a:p>
          </p:txBody>
        </p:sp>
      </p:grpSp>
      <p:pic>
        <p:nvPicPr>
          <p:cNvPr id="16" name="圖片 15">
            <a:extLst>
              <a:ext uri="{FF2B5EF4-FFF2-40B4-BE49-F238E27FC236}">
                <a16:creationId xmlns:a16="http://schemas.microsoft.com/office/drawing/2014/main" id="{99A5D432-EDD7-404D-A33A-F101881E59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7761" y="1348736"/>
            <a:ext cx="5385827" cy="4160528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643CC5C4-6322-0402-58E1-51381D8E0FB2}"/>
              </a:ext>
            </a:extLst>
          </p:cNvPr>
          <p:cNvSpPr txBox="1"/>
          <p:nvPr/>
        </p:nvSpPr>
        <p:spPr>
          <a:xfrm>
            <a:off x="790575" y="4891957"/>
            <a:ext cx="47772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</a:rPr>
              <a:t>模型能捕捉 距離增加 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  <a:sym typeface="Wingdings" panose="05000000000000000000" pitchFamily="2" charset="2"/>
              </a:rPr>
              <a:t></a:t>
            </a: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  <a:sym typeface="Wingdings" panose="05000000000000000000" pitchFamily="2" charset="2"/>
              </a:rPr>
              <a:t>半變異數上升趨勢</a:t>
            </a:r>
            <a:endParaRPr lang="en-US" altLang="zh-TW" dirty="0">
              <a:latin typeface="CMU Serif" panose="02000603000000000000" pitchFamily="2" charset="0"/>
              <a:ea typeface="標楷體" panose="03000509000000000000" pitchFamily="65" charset="-120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</a:rPr>
              <a:t>無法反映近距離觀測誤差</a:t>
            </a:r>
            <a:endParaRPr lang="en-US" altLang="zh-TW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</a:rPr>
              <a:t>下一步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</a:rPr>
              <a:t>:</a:t>
            </a: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</a:rPr>
              <a:t> 提高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</a:rPr>
              <a:t> nugget </a:t>
            </a: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</a:rPr>
              <a:t>至 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</a:rPr>
              <a:t>3000</a:t>
            </a:r>
          </a:p>
        </p:txBody>
      </p:sp>
    </p:spTree>
    <p:extLst>
      <p:ext uri="{BB962C8B-B14F-4D97-AF65-F5344CB8AC3E}">
        <p14:creationId xmlns:p14="http://schemas.microsoft.com/office/powerpoint/2010/main" val="711687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4E1DE-B44A-D57B-2E22-862F4200C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A657500-7CAF-F9FF-DDB6-EF7B76F4A6BF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10/20</a:t>
            </a:r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340A895-8C84-0688-C389-B81600FE6274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12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月累積雨量網格資料製作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– nugget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設置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3000 </a:t>
            </a:r>
            <a:endParaRPr lang="zh-TW" altLang="en-US" sz="28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221B77D5-AE4B-DE36-9C20-DEA522C51248}"/>
              </a:ext>
            </a:extLst>
          </p:cNvPr>
          <p:cNvGrpSpPr/>
          <p:nvPr/>
        </p:nvGrpSpPr>
        <p:grpSpPr>
          <a:xfrm>
            <a:off x="288412" y="1348736"/>
            <a:ext cx="6032776" cy="1421271"/>
            <a:chOff x="481011" y="1537038"/>
            <a:chExt cx="5623200" cy="1556666"/>
          </a:xfrm>
        </p:grpSpPr>
        <p:sp>
          <p:nvSpPr>
            <p:cNvPr id="8" name="矩形: 圓角 7">
              <a:extLst>
                <a:ext uri="{FF2B5EF4-FFF2-40B4-BE49-F238E27FC236}">
                  <a16:creationId xmlns:a16="http://schemas.microsoft.com/office/drawing/2014/main" id="{285C83D7-2245-03CA-B12A-B50C9818B1F6}"/>
                </a:ext>
              </a:extLst>
            </p:cNvPr>
            <p:cNvSpPr/>
            <p:nvPr/>
          </p:nvSpPr>
          <p:spPr>
            <a:xfrm>
              <a:off x="481012" y="1559495"/>
              <a:ext cx="5614988" cy="1534209"/>
            </a:xfrm>
            <a:prstGeom prst="roundRect">
              <a:avLst>
                <a:gd name="adj" fmla="val 18267"/>
              </a:avLst>
            </a:prstGeom>
            <a:solidFill>
              <a:srgbClr val="3333B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  <a:p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sill_0 = </a:t>
              </a:r>
              <a:r>
                <a:rPr lang="en-US" altLang="zh-TW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np.nanvar</a:t>
              </a:r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(</a:t>
              </a:r>
              <a:r>
                <a:rPr lang="en-US" altLang="zh-TW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z_res</a:t>
              </a:r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)</a:t>
              </a:r>
            </a:p>
            <a:p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range_0 = 0.25 * (</a:t>
              </a:r>
              <a:r>
                <a:rPr lang="en-US" altLang="zh-TW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bin_center.max</a:t>
              </a:r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() - </a:t>
              </a:r>
              <a:r>
                <a:rPr lang="en-US" altLang="zh-TW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bin_center.min</a:t>
              </a:r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())  </a:t>
              </a:r>
            </a:p>
            <a:p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nug_0 = 3000</a:t>
              </a:r>
            </a:p>
          </p:txBody>
        </p:sp>
        <p:sp>
          <p:nvSpPr>
            <p:cNvPr id="10" name="矩形: 圓角化同側角落 9">
              <a:extLst>
                <a:ext uri="{FF2B5EF4-FFF2-40B4-BE49-F238E27FC236}">
                  <a16:creationId xmlns:a16="http://schemas.microsoft.com/office/drawing/2014/main" id="{7FA5E49F-F3EC-E51D-8A95-20C65C3BFF20}"/>
                </a:ext>
              </a:extLst>
            </p:cNvPr>
            <p:cNvSpPr/>
            <p:nvPr/>
          </p:nvSpPr>
          <p:spPr>
            <a:xfrm>
              <a:off x="481011" y="1537038"/>
              <a:ext cx="5623200" cy="43463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EBE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rgbClr val="3333B3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Original parameter setting</a:t>
              </a:r>
            </a:p>
          </p:txBody>
        </p:sp>
      </p:grp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CD132084-680F-D119-5894-292537E6C0F4}"/>
              </a:ext>
            </a:extLst>
          </p:cNvPr>
          <p:cNvGrpSpPr/>
          <p:nvPr/>
        </p:nvGrpSpPr>
        <p:grpSpPr>
          <a:xfrm>
            <a:off x="288412" y="2961682"/>
            <a:ext cx="6023965" cy="1421271"/>
            <a:chOff x="481011" y="1537038"/>
            <a:chExt cx="5623200" cy="1556666"/>
          </a:xfrm>
        </p:grpSpPr>
        <p:sp>
          <p:nvSpPr>
            <p:cNvPr id="13" name="矩形: 圓角 12">
              <a:extLst>
                <a:ext uri="{FF2B5EF4-FFF2-40B4-BE49-F238E27FC236}">
                  <a16:creationId xmlns:a16="http://schemas.microsoft.com/office/drawing/2014/main" id="{88437571-05A7-92B8-C0F1-70BD150BAAE7}"/>
                </a:ext>
              </a:extLst>
            </p:cNvPr>
            <p:cNvSpPr/>
            <p:nvPr/>
          </p:nvSpPr>
          <p:spPr>
            <a:xfrm>
              <a:off x="481012" y="1559495"/>
              <a:ext cx="5614988" cy="1534209"/>
            </a:xfrm>
            <a:prstGeom prst="roundRect">
              <a:avLst>
                <a:gd name="adj" fmla="val 18267"/>
              </a:avLst>
            </a:prstGeom>
            <a:solidFill>
              <a:srgbClr val="3333B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  <a:p>
              <a:r>
                <a:rPr lang="en-US" altLang="zh-TW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sill_opt</a:t>
              </a:r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 = 2823075.6513</a:t>
              </a:r>
            </a:p>
            <a:p>
              <a:r>
                <a:rPr lang="en-US" altLang="zh-TW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range_opt</a:t>
              </a:r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 = 791.9788</a:t>
              </a:r>
            </a:p>
            <a:p>
              <a:r>
                <a:rPr lang="en-US" altLang="zh-TW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nug_opt</a:t>
              </a:r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 = 3000</a:t>
              </a:r>
              <a:endParaRPr lang="zh-TW" altLang="en-US" dirty="0">
                <a:latin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14" name="矩形: 圓角化同側角落 13">
              <a:extLst>
                <a:ext uri="{FF2B5EF4-FFF2-40B4-BE49-F238E27FC236}">
                  <a16:creationId xmlns:a16="http://schemas.microsoft.com/office/drawing/2014/main" id="{F9EEE3C9-A593-F9EF-EC0F-B44B71F99615}"/>
                </a:ext>
              </a:extLst>
            </p:cNvPr>
            <p:cNvSpPr/>
            <p:nvPr/>
          </p:nvSpPr>
          <p:spPr>
            <a:xfrm>
              <a:off x="481011" y="1537038"/>
              <a:ext cx="5623200" cy="43463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EBE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rgbClr val="3333B3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Optimal result</a:t>
              </a:r>
            </a:p>
          </p:txBody>
        </p:sp>
      </p:grp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02E288FE-DFAB-413B-C137-A206CD2B338D}"/>
              </a:ext>
            </a:extLst>
          </p:cNvPr>
          <p:cNvSpPr txBox="1"/>
          <p:nvPr/>
        </p:nvSpPr>
        <p:spPr>
          <a:xfrm>
            <a:off x="427951" y="4603567"/>
            <a:ext cx="651652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</a:rPr>
              <a:t>模型擬合度比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</a:rPr>
              <a:t>baseline</a:t>
            </a: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</a:rPr>
              <a:t>好</a:t>
            </a:r>
            <a:endParaRPr lang="en-US" altLang="zh-TW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</a:rPr>
              <a:t>Sill </a:t>
            </a: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</a:rPr>
              <a:t>極高</a:t>
            </a:r>
            <a:endParaRPr lang="en-US" altLang="zh-TW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</a:rPr>
              <a:t>Range </a:t>
            </a: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</a:rPr>
              <a:t>不符合自然現象 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</a:rPr>
              <a:t>此結果相當於全球都具空間相關性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</a:rPr>
              <a:t>模型為貼合 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</a:rPr>
              <a:t>nugget </a:t>
            </a: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</a:rPr>
              <a:t>失去物理意義</a:t>
            </a:r>
            <a:endParaRPr lang="en-US" altLang="zh-TW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</a:rPr>
              <a:t>下一步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</a:rPr>
              <a:t>:</a:t>
            </a: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</a:rPr>
              <a:t> 降低 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</a:rPr>
              <a:t>nugget </a:t>
            </a: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</a:rPr>
              <a:t>至 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</a:rPr>
              <a:t>1000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4D3840B-1216-86B5-A717-73D80F1A22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8260" y="1433417"/>
            <a:ext cx="5385827" cy="416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958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617FD-2025-15B6-6B55-9134315A6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B7BCA94-AFAC-3588-633E-83AC60D0959B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11/20</a:t>
            </a:r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C84049F-BAAA-AB3B-2558-6C823941149C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12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月累積雨量網格資料製作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– nugget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設置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1000 </a:t>
            </a:r>
            <a:endParaRPr lang="zh-TW" altLang="en-US" sz="28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13C0D655-36CC-81D9-D084-14FD1A54248C}"/>
              </a:ext>
            </a:extLst>
          </p:cNvPr>
          <p:cNvGrpSpPr/>
          <p:nvPr/>
        </p:nvGrpSpPr>
        <p:grpSpPr>
          <a:xfrm>
            <a:off x="288412" y="1348736"/>
            <a:ext cx="6032776" cy="1421271"/>
            <a:chOff x="481011" y="1537038"/>
            <a:chExt cx="5623200" cy="1556666"/>
          </a:xfrm>
        </p:grpSpPr>
        <p:sp>
          <p:nvSpPr>
            <p:cNvPr id="8" name="矩形: 圓角 7">
              <a:extLst>
                <a:ext uri="{FF2B5EF4-FFF2-40B4-BE49-F238E27FC236}">
                  <a16:creationId xmlns:a16="http://schemas.microsoft.com/office/drawing/2014/main" id="{94168441-944D-A100-259A-78B531214C62}"/>
                </a:ext>
              </a:extLst>
            </p:cNvPr>
            <p:cNvSpPr/>
            <p:nvPr/>
          </p:nvSpPr>
          <p:spPr>
            <a:xfrm>
              <a:off x="481012" y="1559495"/>
              <a:ext cx="5614988" cy="1534209"/>
            </a:xfrm>
            <a:prstGeom prst="roundRect">
              <a:avLst>
                <a:gd name="adj" fmla="val 18267"/>
              </a:avLst>
            </a:prstGeom>
            <a:solidFill>
              <a:srgbClr val="3333B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  <a:p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sill_0 = </a:t>
              </a:r>
              <a:r>
                <a:rPr lang="en-US" altLang="zh-TW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np.nanvar</a:t>
              </a:r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(</a:t>
              </a:r>
              <a:r>
                <a:rPr lang="en-US" altLang="zh-TW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z_res</a:t>
              </a:r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)</a:t>
              </a:r>
            </a:p>
            <a:p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range_0 = 0.25 * (</a:t>
              </a:r>
              <a:r>
                <a:rPr lang="en-US" altLang="zh-TW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bin_center.max</a:t>
              </a:r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() - </a:t>
              </a:r>
              <a:r>
                <a:rPr lang="en-US" altLang="zh-TW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bin_center.min</a:t>
              </a:r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())  </a:t>
              </a:r>
            </a:p>
            <a:p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nug_0 = 3000</a:t>
              </a:r>
            </a:p>
          </p:txBody>
        </p:sp>
        <p:sp>
          <p:nvSpPr>
            <p:cNvPr id="10" name="矩形: 圓角化同側角落 9">
              <a:extLst>
                <a:ext uri="{FF2B5EF4-FFF2-40B4-BE49-F238E27FC236}">
                  <a16:creationId xmlns:a16="http://schemas.microsoft.com/office/drawing/2014/main" id="{81A2F023-36A1-2EB6-B236-F10005795672}"/>
                </a:ext>
              </a:extLst>
            </p:cNvPr>
            <p:cNvSpPr/>
            <p:nvPr/>
          </p:nvSpPr>
          <p:spPr>
            <a:xfrm>
              <a:off x="481011" y="1537038"/>
              <a:ext cx="5623200" cy="43463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EBE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rgbClr val="3333B3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Original parameter setting</a:t>
              </a:r>
            </a:p>
          </p:txBody>
        </p:sp>
      </p:grp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96183E85-8487-1FEA-0375-E08547A495B6}"/>
              </a:ext>
            </a:extLst>
          </p:cNvPr>
          <p:cNvGrpSpPr/>
          <p:nvPr/>
        </p:nvGrpSpPr>
        <p:grpSpPr>
          <a:xfrm>
            <a:off x="288412" y="2961682"/>
            <a:ext cx="6023965" cy="1421271"/>
            <a:chOff x="481011" y="1537038"/>
            <a:chExt cx="5623200" cy="1556666"/>
          </a:xfrm>
        </p:grpSpPr>
        <p:sp>
          <p:nvSpPr>
            <p:cNvPr id="13" name="矩形: 圓角 12">
              <a:extLst>
                <a:ext uri="{FF2B5EF4-FFF2-40B4-BE49-F238E27FC236}">
                  <a16:creationId xmlns:a16="http://schemas.microsoft.com/office/drawing/2014/main" id="{72B0C774-8601-AE3C-7D76-6D2D39C737A4}"/>
                </a:ext>
              </a:extLst>
            </p:cNvPr>
            <p:cNvSpPr/>
            <p:nvPr/>
          </p:nvSpPr>
          <p:spPr>
            <a:xfrm>
              <a:off x="481012" y="1559495"/>
              <a:ext cx="5614988" cy="1534209"/>
            </a:xfrm>
            <a:prstGeom prst="roundRect">
              <a:avLst>
                <a:gd name="adj" fmla="val 18267"/>
              </a:avLst>
            </a:prstGeom>
            <a:solidFill>
              <a:srgbClr val="3333B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  <a:p>
              <a:r>
                <a:rPr lang="en-US" altLang="zh-TW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sill_opt</a:t>
              </a:r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 =</a:t>
              </a:r>
              <a:r>
                <a:rPr lang="zh-TW" altLang="en-US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 </a:t>
              </a:r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10158.9674</a:t>
              </a:r>
            </a:p>
            <a:p>
              <a:r>
                <a:rPr lang="en-US" altLang="zh-TW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range_opt</a:t>
              </a:r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 = 1.8155</a:t>
              </a:r>
            </a:p>
            <a:p>
              <a:r>
                <a:rPr lang="en-US" altLang="zh-TW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nug_opt</a:t>
              </a:r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 = 1000</a:t>
              </a:r>
              <a:endParaRPr lang="zh-TW" altLang="en-US" dirty="0">
                <a:latin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14" name="矩形: 圓角化同側角落 13">
              <a:extLst>
                <a:ext uri="{FF2B5EF4-FFF2-40B4-BE49-F238E27FC236}">
                  <a16:creationId xmlns:a16="http://schemas.microsoft.com/office/drawing/2014/main" id="{C95B8CBF-4319-D981-20E7-63D29F47A4F5}"/>
                </a:ext>
              </a:extLst>
            </p:cNvPr>
            <p:cNvSpPr/>
            <p:nvPr/>
          </p:nvSpPr>
          <p:spPr>
            <a:xfrm>
              <a:off x="481011" y="1537038"/>
              <a:ext cx="5623200" cy="43463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EBE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rgbClr val="3333B3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Optimal result</a:t>
              </a:r>
            </a:p>
          </p:txBody>
        </p:sp>
      </p:grp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0B40A2B4-892B-8796-24F1-9C0B517AB0B1}"/>
              </a:ext>
            </a:extLst>
          </p:cNvPr>
          <p:cNvSpPr txBox="1"/>
          <p:nvPr/>
        </p:nvSpPr>
        <p:spPr>
          <a:xfrm>
            <a:off x="385929" y="4696016"/>
            <a:ext cx="460414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</a:rPr>
              <a:t>模型擬合度在中段貼合良好</a:t>
            </a:r>
            <a:endParaRPr lang="en-US" altLang="zh-TW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</a:rPr>
              <a:t>Sill</a:t>
            </a: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</a:rPr>
              <a:t>、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</a:rPr>
              <a:t>Range </a:t>
            </a: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</a:rPr>
              <a:t>數值穩定，無發散現象</a:t>
            </a:r>
            <a:endParaRPr lang="en-US" altLang="zh-TW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</a:rPr>
              <a:t>Nugget = 1000</a:t>
            </a: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</a:rPr>
              <a:t> 合理表示短距離不確定性</a:t>
            </a:r>
            <a:endParaRPr lang="en-US" altLang="zh-TW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</a:rPr>
              <a:t>採用此模型做視覺化</a:t>
            </a:r>
            <a:endParaRPr lang="en-US" altLang="zh-TW" dirty="0">
              <a:latin typeface="CMU Serif" panose="02000603000000000000" pitchFamily="2" charset="0"/>
              <a:ea typeface="標楷體" panose="03000509000000000000" pitchFamily="65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19AF592-FC0E-9B81-D3C9-42D59251AA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3961" y="1278252"/>
            <a:ext cx="5385827" cy="416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608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B7D32-6915-EF10-D028-6B8CC6626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45E3A3E-5F8F-FF41-DFC6-BE8835949D96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12/20</a:t>
            </a:r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D180F06-B3D4-BC02-ED32-A87B18F1AB40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12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月累積雨量網格資料製作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–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視覺化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891054E-E308-9E78-7D27-89379A774C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8234" y="1129662"/>
            <a:ext cx="5740416" cy="4598675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41AFB2E6-3DB1-5749-DB13-39BB2818ECF8}"/>
              </a:ext>
            </a:extLst>
          </p:cNvPr>
          <p:cNvSpPr txBox="1"/>
          <p:nvPr/>
        </p:nvSpPr>
        <p:spPr>
          <a:xfrm>
            <a:off x="709970" y="1577338"/>
            <a:ext cx="574041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北部與東北側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rPr>
              <a:t>(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迎東北季風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rPr>
              <a:t>)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、蘭嶼雨量較高</a:t>
            </a:r>
          </a:p>
          <a:p>
            <a:pPr marL="342900" indent="-342900">
              <a:buFont typeface="+mj-lt"/>
              <a:buAutoNum type="arabicPeriod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未發生高值出現於鄰近無測站情況</a:t>
            </a:r>
          </a:p>
          <a:p>
            <a:endParaRPr lang="zh-TW" altLang="en-US" sz="2000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結果與地理常識大致相同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海上數據可透過遮罩方式消除</a:t>
            </a:r>
          </a:p>
        </p:txBody>
      </p:sp>
    </p:spTree>
    <p:extLst>
      <p:ext uri="{BB962C8B-B14F-4D97-AF65-F5344CB8AC3E}">
        <p14:creationId xmlns:p14="http://schemas.microsoft.com/office/powerpoint/2010/main" val="463746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B22F0-8D9B-026C-069C-4D389FFFA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1DF8018-6725-9777-2F59-F9D310F1C129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13/20</a:t>
            </a:r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3F789B7-3A4E-DF7C-B2BE-633A6837DE83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Simple Kriging + Spherical Variogram 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數學推導概述</a:t>
            </a:r>
          </a:p>
        </p:txBody>
      </p:sp>
      <p:pic>
        <p:nvPicPr>
          <p:cNvPr id="17" name="圖片 16" descr="\documentclass{article}&#10;\usepackage{amsmath}&#10;\usepackage{setspace}&#10;\pagestyle{empty}&#10;\onehalfspacing&#10;&#10;\begin{document}&#10;\noindent&#10;$u_1, \ldots, u_n$: locations of stations\\&#10;$Z(u_1), \ldots, Z(u_n)$: rainfall at stations\\&#10;Target: estimate at unobserved location: $Z(u_0)$\\&#10;Assumption of Simple Kriging:&#10;\[&#10;Z(u) = m + \epsilon(u)&#10;\]&#10;where $m$ is the global mean and $\epsilon(u)$ is the random residual.\\&#10;Let $E[\epsilon(u)] = 0$ and $m = 0$\\&#10;Kriging estimation form:&#10;\[&#10;\hat{Z}(u_0) = m + \sum_{i=1}^{n} \lambda_i \bigl[ Z(u_i) - m \bigr]&#10;\]&#10;Caculation target: weight $\lambda_1 \ldots \lambda_n$&#10;\end{document}&#10;" title="IguanaTex Picture Display">
            <a:extLst>
              <a:ext uri="{FF2B5EF4-FFF2-40B4-BE49-F238E27FC236}">
                <a16:creationId xmlns:a16="http://schemas.microsoft.com/office/drawing/2014/main" id="{0FDB6A0E-C005-CBC3-7247-96442D7FC99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846" y="1032214"/>
            <a:ext cx="6686684" cy="5165046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EB13AEBB-DD6D-8EB1-6F22-D8A552A54A31}"/>
              </a:ext>
            </a:extLst>
          </p:cNvPr>
          <p:cNvSpPr txBox="1"/>
          <p:nvPr/>
        </p:nvSpPr>
        <p:spPr>
          <a:xfrm>
            <a:off x="6275295" y="5874094"/>
            <a:ext cx="59167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Reference: </a:t>
            </a:r>
            <a:r>
              <a:rPr lang="en-US" altLang="zh-TW" sz="12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Make your own Kriging interpolation algorithm with python</a:t>
            </a:r>
            <a:r>
              <a:rPr lang="en-US" altLang="zh-TW" sz="1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, Jui-Fa Tsai</a:t>
            </a:r>
          </a:p>
          <a:p>
            <a:r>
              <a:rPr lang="en-US" altLang="zh-TW" sz="1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https://www.dropbox.com/scl/fi/lw19ieu12cv1wlzxy29re/outreach_2019-09-24_kriging_meetup.pdf?rlkey=8wm1diwj3usph7y6cm1o37j45&amp;e=1&amp;dl=0</a:t>
            </a:r>
          </a:p>
        </p:txBody>
      </p:sp>
    </p:spTree>
    <p:extLst>
      <p:ext uri="{BB962C8B-B14F-4D97-AF65-F5344CB8AC3E}">
        <p14:creationId xmlns:p14="http://schemas.microsoft.com/office/powerpoint/2010/main" val="25892755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4EC1C-C240-22D0-33DB-A95AF04C1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440BDE7-29C8-1E07-7432-EF47C965B687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14/20</a:t>
            </a:r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6CBBBF-13D0-07DB-D97C-15E784F5CE12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Simple Kriging + Spherical Variogram 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數學推導概述</a:t>
            </a:r>
          </a:p>
        </p:txBody>
      </p:sp>
      <p:pic>
        <p:nvPicPr>
          <p:cNvPr id="48" name="圖片 47" descr="\documentclass{article}&#10;\usepackage{amsmath}&#10;\usepackage{setspace}&#10;\pagestyle{empty}&#10;\onehalfspacing&#10;&#10;\begin{document}&#10;\noindent&#10;Estimation condition:\\&#10;\hspace*{2em}\makebox[1em][l]{1.} $E[\epsilon(u)] = 0 \Rightarrow E[\hat{Z}(u_0)] = m$\\&#10;\hspace*{2em}\makebox[1em][l]{2.} Find min.\ $V[\hat{Z}(u_0) - Z(u_0)]$\\&#10;Expand the variance and take its partial derivative with $\lambda_1, \ldots, \lambda_n$, we get:&#10;\[&#10;\begin{bmatrix}&#10;\operatorname{Cov}[\epsilon(u_1), \epsilon(u_1)] &amp; \cdots &amp; \operatorname{Cov}[\epsilon(u_1), \epsilon(u_n)]\\&#10;\vdots &amp; \ddots &amp; \vdots\\&#10;\operatorname{Cov}[\epsilon(u_n), \epsilon(u_1)] &amp; \cdots &amp; \operatorname{Cov}[\epsilon(u_n), \epsilon(u_n)]&#10;\end{bmatrix}&#10;\,&#10;\begin{bmatrix}&#10;\lambda_1\\&#10;\vdots\\&#10;\lambda_n&#10;\end{bmatrix}&#10;=&#10;\begin{bmatrix}&#10;\operatorname{Cov}[\epsilon(u_1), \epsilon(u_0)]\\&#10;\vdots\\&#10;\operatorname{Cov}[\epsilon(u_0), \epsilon(u_n)]&#10;\end{bmatrix}&#10;\]&#10;&#10;\noindent&#10;Solving $\lambda_1 \ldots \lambda_n$ through linear equations.\\&#10;However, $\operatorname{Cov}[\epsilon(u_i), \epsilon(u_j)]$ is unknown.\\&#10;Next, we will fit them with a Spherical variogram model.&#10;&#10;\end{document}" title="IguanaTex Picture Display">
            <a:extLst>
              <a:ext uri="{FF2B5EF4-FFF2-40B4-BE49-F238E27FC236}">
                <a16:creationId xmlns:a16="http://schemas.microsoft.com/office/drawing/2014/main" id="{2E84D0A6-F1CC-EC2C-D295-00AC7D39D87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720" y="1264088"/>
            <a:ext cx="8411760" cy="4329823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2E70637B-F71E-719B-CA77-50AA8112AFB1}"/>
              </a:ext>
            </a:extLst>
          </p:cNvPr>
          <p:cNvSpPr txBox="1"/>
          <p:nvPr/>
        </p:nvSpPr>
        <p:spPr>
          <a:xfrm>
            <a:off x="6320119" y="5874094"/>
            <a:ext cx="58718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Reference: </a:t>
            </a:r>
            <a:r>
              <a:rPr lang="en-US" altLang="zh-TW" sz="12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Make your own Kriging interpolation algorithm with python</a:t>
            </a:r>
            <a:r>
              <a:rPr lang="en-US" altLang="zh-TW" sz="1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, Jui-Fa Tsai</a:t>
            </a:r>
          </a:p>
          <a:p>
            <a:r>
              <a:rPr lang="en-US" altLang="zh-TW" sz="1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https://www.dropbox.com/scl/fi/lw19ieu12cv1wlzxy29re/outreach_2019-09-24_kriging_meetup.pdf?rlkey=8wm1diwj3usph7y6cm1o37j45&amp;e=1&amp;dl=0</a:t>
            </a:r>
          </a:p>
        </p:txBody>
      </p:sp>
    </p:spTree>
    <p:extLst>
      <p:ext uri="{BB962C8B-B14F-4D97-AF65-F5344CB8AC3E}">
        <p14:creationId xmlns:p14="http://schemas.microsoft.com/office/powerpoint/2010/main" val="7551470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F1DBE-A1DA-C35E-85AB-FDBBF750B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BE49256-DCE8-A075-D285-66FA2C8F946D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15/20</a:t>
            </a:r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F0CE2CD-5147-152F-E893-909BD09D8D96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Simple Kriging + Spherical Variogram 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數學推導概述</a:t>
            </a:r>
          </a:p>
        </p:txBody>
      </p:sp>
      <p:pic>
        <p:nvPicPr>
          <p:cNvPr id="7" name="圖片 6" descr="\documentclass{article}&#10;\usepackage{amsmath}&#10;\usepackage{setspace}&#10;\pagestyle{empty}&#10;\onehalfspacing&#10;&#10;\begin{document}&#10;\noindent&#10;Spatial related assumptions: \\&#10;\hspace*{2em}\makebox[1em][l]{1.}Correlation: close $&gt;$ far\\&#10;\hspace*{2em}\makebox[1em][l]{2.}The mean value is a constant\\&#10;\hspace*{2em}\makebox[1em][l]{3.}Covariance depends only on distance $h$ and is independent with location.\\&#10;Let $C(h)=Cov[Z(u), Z(u+h)]$\\&#10;Define Variogram:&#10;\begin{align*}&#10;\gamma(h) &amp;= \frac{1}{2}E[Z(u)-Z(u+h)]^2\\&#10;&amp;=\frac{1}{2}[2V(Z)-2C(h)]\\&#10;&amp;=C(0)-C(h)&#10;\end{align*}&#10;&#10;\end{document}" title="IguanaTex Picture Display">
            <a:extLst>
              <a:ext uri="{FF2B5EF4-FFF2-40B4-BE49-F238E27FC236}">
                <a16:creationId xmlns:a16="http://schemas.microsoft.com/office/drawing/2014/main" id="{F3002339-D308-869C-9114-A1430F7CE90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00" y="1422083"/>
            <a:ext cx="9503189" cy="4385309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9FD4B2BE-F14D-1468-1A99-42688894D262}"/>
              </a:ext>
            </a:extLst>
          </p:cNvPr>
          <p:cNvSpPr txBox="1"/>
          <p:nvPr/>
        </p:nvSpPr>
        <p:spPr>
          <a:xfrm>
            <a:off x="6266329" y="5874094"/>
            <a:ext cx="59256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Reference: </a:t>
            </a:r>
            <a:r>
              <a:rPr lang="en-US" altLang="zh-TW" sz="12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Make your own Kriging interpolation algorithm with python</a:t>
            </a:r>
            <a:r>
              <a:rPr lang="en-US" altLang="zh-TW" sz="1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, Jui-Fa Tsai</a:t>
            </a:r>
          </a:p>
          <a:p>
            <a:r>
              <a:rPr lang="en-US" altLang="zh-TW" sz="1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https://www.dropbox.com/scl/fi/lw19ieu12cv1wlzxy29re/outreach_2019-09-24_kriging_meetup.pdf?rlkey=8wm1diwj3usph7y6cm1o37j45&amp;e=1&amp;dl=0</a:t>
            </a:r>
          </a:p>
        </p:txBody>
      </p:sp>
    </p:spTree>
    <p:extLst>
      <p:ext uri="{BB962C8B-B14F-4D97-AF65-F5344CB8AC3E}">
        <p14:creationId xmlns:p14="http://schemas.microsoft.com/office/powerpoint/2010/main" val="859318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344F9-2559-6208-D2DB-8AFD8D66C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F2024B1-93A8-15AA-234F-862ADDA2AE9E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16/20</a:t>
            </a:r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2AE1D6C-20BB-B163-ED4A-540DA013EAD3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Simple Kriging + Spherical Variogram 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數學推導概述</a:t>
            </a:r>
          </a:p>
        </p:txBody>
      </p:sp>
      <p:pic>
        <p:nvPicPr>
          <p:cNvPr id="8" name="圖片 7" descr="\documentclass{article}&#10;\usepackage{amsmath}&#10;\usepackage{setspace}&#10;\pagestyle{empty}&#10;\onehalfspacing&#10;&#10;\begin{document}&#10;\noindent&#10;\makebox[1em][l]{1.}Sill\\&#10;The value that the semivariogram approaches as the distance nears infinity. The greater the distance, the lower the correlation:&#10;\begin{align*}&#10;Let \;\lim_{h\to\infty}C(h)&amp;=0\\&#10;\Rightarrow sill &amp;= \lim_{h\to\infty}\gamma(h)=\lim_{h\to\infty}[C(0)-C(h)]=C(0)&#10;\end{align*}&#10;\makebox[1em][l]{2.}Range\\&#10;The distance at which the semivariogram reaches the sill. Beyond this distance, spatial correlation between observations becomes negligible:&#10;$$h&gt;range \Rightarrow Z(u) \perp Z(u+h)$$&#10;\makebox[1em][l]{3.}Nugget\\&#10;The semivariance at an infinitesimally small separation distance. It reflects measurement error or spatial variability occurring at distances smaller than the sampling distance:&#10;$$\gamma(0^+)=C_0&gt;0$$&#10;\end{document}" title="IguanaTex Picture Display">
            <a:extLst>
              <a:ext uri="{FF2B5EF4-FFF2-40B4-BE49-F238E27FC236}">
                <a16:creationId xmlns:a16="http://schemas.microsoft.com/office/drawing/2014/main" id="{DFBEC607-B9B8-BE81-3B29-226FC8ECB5D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680" y="896034"/>
            <a:ext cx="7161817" cy="5437407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D0E407CB-DB3F-5509-DE67-8F4E8DEF3B94}"/>
              </a:ext>
            </a:extLst>
          </p:cNvPr>
          <p:cNvSpPr txBox="1"/>
          <p:nvPr/>
        </p:nvSpPr>
        <p:spPr>
          <a:xfrm>
            <a:off x="6158753" y="5874094"/>
            <a:ext cx="60332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Reference: </a:t>
            </a:r>
            <a:r>
              <a:rPr lang="en-US" altLang="zh-TW" sz="12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Make your own Kriging interpolation algorithm with python</a:t>
            </a:r>
            <a:r>
              <a:rPr lang="en-US" altLang="zh-TW" sz="1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, Jui-Fa Tsai</a:t>
            </a:r>
          </a:p>
          <a:p>
            <a:r>
              <a:rPr lang="en-US" altLang="zh-TW" sz="1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https://www.dropbox.com/scl/fi/lw19ieu12cv1wlzxy29re/outreach_2019-09-24_kriging_meetup.pdf?rlkey=8wm1diwj3usph7y6cm1o37j45&amp;e=1&amp;dl=0</a:t>
            </a:r>
          </a:p>
        </p:txBody>
      </p:sp>
    </p:spTree>
    <p:extLst>
      <p:ext uri="{BB962C8B-B14F-4D97-AF65-F5344CB8AC3E}">
        <p14:creationId xmlns:p14="http://schemas.microsoft.com/office/powerpoint/2010/main" val="41147640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1EEE0-62BC-1531-E66A-554AE062F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34079C5-BA3D-5A64-5D84-28DA59C8472F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17/20</a:t>
            </a:r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5E26AE-1ED7-A078-A721-CB017416B74A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Simple Kriging + Spherical Variogram 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數學推導概述</a:t>
            </a: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32BA2130-0065-F9C6-64B0-267D8B32337C}"/>
              </a:ext>
            </a:extLst>
          </p:cNvPr>
          <p:cNvGrpSpPr/>
          <p:nvPr/>
        </p:nvGrpSpPr>
        <p:grpSpPr>
          <a:xfrm>
            <a:off x="1297251" y="1495662"/>
            <a:ext cx="9865238" cy="1680214"/>
            <a:chOff x="481011" y="1537038"/>
            <a:chExt cx="5623200" cy="1556666"/>
          </a:xfrm>
        </p:grpSpPr>
        <p:sp>
          <p:nvSpPr>
            <p:cNvPr id="8" name="矩形: 圓角 7">
              <a:extLst>
                <a:ext uri="{FF2B5EF4-FFF2-40B4-BE49-F238E27FC236}">
                  <a16:creationId xmlns:a16="http://schemas.microsoft.com/office/drawing/2014/main" id="{1571659A-3A09-D6A4-7DDA-A24774A0B567}"/>
                </a:ext>
              </a:extLst>
            </p:cNvPr>
            <p:cNvSpPr/>
            <p:nvPr/>
          </p:nvSpPr>
          <p:spPr>
            <a:xfrm>
              <a:off x="481012" y="1559495"/>
              <a:ext cx="5614988" cy="1534209"/>
            </a:xfrm>
            <a:prstGeom prst="roundRect">
              <a:avLst>
                <a:gd name="adj" fmla="val 18267"/>
              </a:avLst>
            </a:prstGeom>
            <a:solidFill>
              <a:srgbClr val="3333B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9" name="矩形: 圓角化同側角落 8">
              <a:extLst>
                <a:ext uri="{FF2B5EF4-FFF2-40B4-BE49-F238E27FC236}">
                  <a16:creationId xmlns:a16="http://schemas.microsoft.com/office/drawing/2014/main" id="{4507FDB6-A977-8E5F-FF4F-822AC8DB9871}"/>
                </a:ext>
              </a:extLst>
            </p:cNvPr>
            <p:cNvSpPr/>
            <p:nvPr/>
          </p:nvSpPr>
          <p:spPr>
            <a:xfrm>
              <a:off x="481011" y="1537038"/>
              <a:ext cx="5623200" cy="43463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EBE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rgbClr val="3333B3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Spherical Variogram</a:t>
              </a:r>
            </a:p>
          </p:txBody>
        </p:sp>
      </p:grpSp>
      <p:pic>
        <p:nvPicPr>
          <p:cNvPr id="13" name="圖片 12" descr="\documentclass{article}&#10;\usepackage{amsmath}&#10;\usepackage{setspace}&#10;\pagestyle{empty}&#10;\onehalfspacing&#10;&#10;\begin{document}&#10;\begin{equation*}&#10;\gamma(h)=&#10;\begin{cases}&#10;c_0+c[\frac{3}{2}\frac{h}{a}-\frac{1}{2}(\frac{h}{a})^3]&amp;,\;0\leq h \leq a\\&#10;c_0+c&amp;,\;h&gt;a&#10;\end{cases}&#10;\quad \text{,where $c$: sill, $a$: range, $c_0$: nugget}&#10;\end{equation*}&#10;\end{document}" title="IguanaTex Picture Display">
            <a:extLst>
              <a:ext uri="{FF2B5EF4-FFF2-40B4-BE49-F238E27FC236}">
                <a16:creationId xmlns:a16="http://schemas.microsoft.com/office/drawing/2014/main" id="{AD41B935-8FC3-BD94-D8C6-8DD6FFCBE09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duotone>
              <a:prstClr val="black"/>
              <a:schemeClr val="bg1">
                <a:tint val="45000"/>
                <a:satMod val="400000"/>
              </a:schemeClr>
            </a:duotone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551" y="2096561"/>
            <a:ext cx="9107371" cy="94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圖片 14" descr="\documentclass{article}&#10;\usepackage{amsmath}&#10;\usepackage{setspace}&#10;\pagestyle{empty}&#10;\onehalfspacing&#10;&#10;\begin{document}&#10;\noindent&#10;1. $h=0 \Rightarrow \gamma=0 $ ( $c(h)=c(0)$ )\\&#10;2. $h=a \Rightarrow \gamma=c $ ( $c(h)=0$ )\\&#10;3. $h&gt;a \Rightarrow \gamma=c $ ( $c(h)=0$ )&#10;\end{document}" title="IguanaTex Picture Display">
            <a:extLst>
              <a:ext uri="{FF2B5EF4-FFF2-40B4-BE49-F238E27FC236}">
                <a16:creationId xmlns:a16="http://schemas.microsoft.com/office/drawing/2014/main" id="{3276E453-74C1-D499-4460-D4EC0669108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548" y="3880373"/>
            <a:ext cx="3558095" cy="1013333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4FA4ED6A-6D89-48A9-6BBD-DF0B42F25A5C}"/>
              </a:ext>
            </a:extLst>
          </p:cNvPr>
          <p:cNvSpPr txBox="1"/>
          <p:nvPr/>
        </p:nvSpPr>
        <p:spPr>
          <a:xfrm>
            <a:off x="1663551" y="3429000"/>
            <a:ext cx="18740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Properties</a:t>
            </a:r>
            <a:endParaRPr lang="zh-TW" altLang="en-US" sz="2400" b="1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394E25F-B31C-398A-1861-0C11F27ECF1D}"/>
              </a:ext>
            </a:extLst>
          </p:cNvPr>
          <p:cNvSpPr txBox="1"/>
          <p:nvPr/>
        </p:nvSpPr>
        <p:spPr>
          <a:xfrm>
            <a:off x="3101788" y="6101060"/>
            <a:ext cx="102645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>
                <a:latin typeface="CMU Serif" panose="02000603000000000000" pitchFamily="2" charset="0"/>
                <a:ea typeface="標楷體" panose="03000509000000000000" pitchFamily="65" charset="-120"/>
                <a:cs typeface="CMU Classical Serif" panose="02000603000000000000" pitchFamily="2" charset="0"/>
              </a:rPr>
              <a:t>Reference: </a:t>
            </a:r>
            <a:r>
              <a:rPr lang="en-US" altLang="zh-TW" sz="1200" dirty="0" err="1">
                <a:latin typeface="CMU Serif" panose="02000603000000000000" pitchFamily="2" charset="0"/>
                <a:ea typeface="標楷體" panose="03000509000000000000" pitchFamily="65" charset="-120"/>
                <a:cs typeface="CMU Classical Serif" panose="02000603000000000000" pitchFamily="2" charset="0"/>
              </a:rPr>
              <a:t>gstools</a:t>
            </a:r>
            <a:r>
              <a:rPr lang="en-US" altLang="zh-TW" sz="1200" dirty="0">
                <a:latin typeface="CMU Serif" panose="02000603000000000000" pitchFamily="2" charset="0"/>
                <a:ea typeface="標楷體" panose="03000509000000000000" pitchFamily="65" charset="-120"/>
                <a:cs typeface="CMU Classical Serif" panose="02000603000000000000" pitchFamily="2" charset="0"/>
              </a:rPr>
              <a:t> </a:t>
            </a:r>
            <a:r>
              <a:rPr lang="zh-TW" altLang="en-US" sz="1200" dirty="0">
                <a:latin typeface="CMU Serif" panose="02000603000000000000" pitchFamily="2" charset="0"/>
                <a:ea typeface="標楷體" panose="03000509000000000000" pitchFamily="65" charset="-120"/>
                <a:cs typeface="CMU Classical Serif" panose="02000603000000000000" pitchFamily="2" charset="0"/>
              </a:rPr>
              <a:t>官方 </a:t>
            </a:r>
            <a:r>
              <a:rPr lang="en-US" altLang="zh-TW" sz="1200" dirty="0">
                <a:latin typeface="CMU Serif" panose="02000603000000000000" pitchFamily="2" charset="0"/>
                <a:ea typeface="標楷體" panose="03000509000000000000" pitchFamily="65" charset="-120"/>
                <a:cs typeface="CMU Classical Serif" panose="02000603000000000000" pitchFamily="2" charset="0"/>
              </a:rPr>
              <a:t>documentation</a:t>
            </a:r>
          </a:p>
          <a:p>
            <a:r>
              <a:rPr lang="en-US" altLang="zh-TW" sz="1200" dirty="0">
                <a:latin typeface="CMU Serif" panose="02000603000000000000" pitchFamily="2" charset="0"/>
                <a:ea typeface="標楷體" panose="03000509000000000000" pitchFamily="65" charset="-120"/>
                <a:cs typeface="CMU Classical Serif" panose="02000603000000000000" pitchFamily="2" charset="0"/>
              </a:rPr>
              <a:t>https://geostat-framework.readthedocs.io/projects/gstools/en/stable/api/gstools.covmodel.Spherical.html#gstools.covmodel.Spherical</a:t>
            </a:r>
          </a:p>
        </p:txBody>
      </p:sp>
    </p:spTree>
    <p:extLst>
      <p:ext uri="{BB962C8B-B14F-4D97-AF65-F5344CB8AC3E}">
        <p14:creationId xmlns:p14="http://schemas.microsoft.com/office/powerpoint/2010/main" val="24966637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95A3F-06A0-E200-34AF-D5751C1AB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8DEDCA8-4EBA-DEFA-C1E1-DE49CFFA7ACC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18/20</a:t>
            </a:r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FF048ED-646D-3D10-8CFD-86729695E10D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Simple Kriging + Spherical Variogram Summary</a:t>
            </a:r>
            <a:endParaRPr lang="zh-TW" altLang="en-US" sz="24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  <p:pic>
        <p:nvPicPr>
          <p:cNvPr id="16" name="圖片 15" descr="\documentclass{article}&#10;\usepackage{amsmath}&#10;\pagestyle{empty}&#10;\usepackage{setspace}&#10;&#10;\begin{document}&#10;\noindent&#10;1. Simple Kriging:\\&#10;\[&#10;\begin{bmatrix}&#10;\operatorname{Cov}[\epsilon(u_1), \epsilon(u_1)] &amp; \cdots &amp; \operatorname{Cov}[\epsilon(u_1), \epsilon(u_n)]\\&#10;\vdots &amp; \ddots &amp; \vdots\\&#10;\operatorname{Cov}[\epsilon(u_n), \epsilon(u_1)] &amp; \cdots &amp; \operatorname{Cov}[\epsilon(u_n), \epsilon(u_n)]&#10;\end{bmatrix}&#10;\,&#10;\begin{bmatrix}&#10;\lambda_1\\&#10;\vdots\\&#10;\lambda_n&#10;\end{bmatrix}&#10;=&#10;\begin{bmatrix}&#10;\operatorname{Cov}[\epsilon(u_1), \epsilon(u_0)]\\&#10;\vdots\\&#10;\operatorname{Cov}[\epsilon(u_0), \epsilon(u_n)]&#10;\end{bmatrix}&#10;\]&#10;$$\hat{Z}(u_0)=\sum\lambda_i Z(u_i)$$&#10;2. Unknown $\operatorname{Cov}[\epsilon(u_i), \epsilon(u_j)]\Rightarrow$ estimated by Spherical Variogram model $\gamma(h)$\\&#10;3. Because $\gamma(h)=C(0)-C(h)$:&#10;\begin{align*}&#10;\operatorname{Cov}[\epsilon(u_i), \epsilon(u_j)]&#10;&amp;=\operatorname{Cov}[Z(u_i), Z(u_j)]\\&#10;&amp;=C(h_{ij})\\&#10;&amp;=C(0)-\gamma(h_{ij})&#10;\end{align*}&#10;4. Substituting the result of (3.) into (1.) to obtain $\lambda_1, \ldots,\lambda_n$&#10;&#10;\end{document}" title="IguanaTex Picture Display">
            <a:extLst>
              <a:ext uri="{FF2B5EF4-FFF2-40B4-BE49-F238E27FC236}">
                <a16:creationId xmlns:a16="http://schemas.microsoft.com/office/drawing/2014/main" id="{F4C151EA-1D0D-42D8-D642-3F9B01201B6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553" y="1173736"/>
            <a:ext cx="8864893" cy="4882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1618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49810-EB80-8613-26F8-7A11E5BAC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F849946-6018-B02B-B7D6-32BA6449981B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19/20 </a:t>
            </a:r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0C14E45-A95D-9D1D-3708-1FABCDEEB2FF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Simple Kriging + Spherical Variogram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手寫推導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191173E-0BED-9682-2C0F-F733538E5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409"/>
          <a:stretch>
            <a:fillRect/>
          </a:stretch>
        </p:blipFill>
        <p:spPr>
          <a:xfrm>
            <a:off x="1549644" y="779387"/>
            <a:ext cx="4393956" cy="578333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631D07E2-D03E-50BF-BA1F-0CFEDE58B3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667"/>
          <a:stretch>
            <a:fillRect/>
          </a:stretch>
        </p:blipFill>
        <p:spPr>
          <a:xfrm>
            <a:off x="6096000" y="764147"/>
            <a:ext cx="5110480" cy="5585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7230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4B18B-1E74-F69E-7FB7-B60D8D91C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9106E91-4FDE-E7AA-815A-58BB5215CF24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20/20</a:t>
            </a:r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977916-BB9D-4649-0015-895EB0165433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Simple Kriging + Spherical Variogram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手寫推導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128E316-A55B-3CEF-9E9E-DD03D91B6F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90"/>
          <a:stretch>
            <a:fillRect/>
          </a:stretch>
        </p:blipFill>
        <p:spPr>
          <a:xfrm>
            <a:off x="1574865" y="666750"/>
            <a:ext cx="4206175" cy="581848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986C1ED-8211-A5D9-B42F-201EDDB0A5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22"/>
          <a:stretch>
            <a:fillRect/>
          </a:stretch>
        </p:blipFill>
        <p:spPr>
          <a:xfrm>
            <a:off x="6186228" y="691601"/>
            <a:ext cx="4349692" cy="582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0578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542.932"/>
  <p:tag name="ORIGINALWIDTH" val=" 3292.089"/>
  <p:tag name="OUTPUTTYPE" val="PNG"/>
  <p:tag name="IGUANATEXVERSION" val="162"/>
  <p:tag name="LATEXADDIN" val="\documentclass{article}&#10;\usepackage{amsmath}&#10;\usepackage{setspace}&#10;\pagestyle{empty}&#10;\onehalfspacing&#10;&#10;\begin{document}&#10;\noindent&#10;$u_1, \ldots, u_n$: locations of stations\\&#10;$Z(u_1), \ldots, Z(u_n)$: rainfall at stations\\&#10;Target: estimate at unobserved location: $Z(u_0)$\\&#10;Assumption of Simple Kriging:&#10;\[&#10;Z(u) = m + \epsilon(u)&#10;\]&#10;where $m$ is the global mean and $\epsilon(u)$ is the random residual.\\&#10;Let $E[\epsilon(u)] = 0$ and $m = 0$\\&#10;Kriging estimation form:&#10;\[&#10;\hat{Z}(u_0) = m + \sum_{i=1}^{n} \lambda_i \bigl[ Z(u_i) - m \bigr]&#10;\]&#10;Caculation target: weight $\lambda_1 \ldots \lambda_n$&#10;\end{document}&#10;"/>
  <p:tag name="IGUANATEXSIZE" val="20"/>
  <p:tag name="IGUANATEXCURSOR" val="469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108.736"/>
  <p:tag name="ORIGINALWIDTH" val=" 4096.738"/>
  <p:tag name="OUTPUTTYPE" val="PNG"/>
  <p:tag name="IGUANATEXVERSION" val="162"/>
  <p:tag name="LATEXADDIN" val="\documentclass{article}&#10;\usepackage{amsmath}&#10;\usepackage{setspace}&#10;\pagestyle{empty}&#10;\onehalfspacing&#10;&#10;\begin{document}&#10;\noindent&#10;Estimation condition:\\&#10;\hspace*{2em}\makebox[1em][l]{1.} $E[\epsilon(u)] = 0 \Rightarrow E[\hat{Z}(u_0)] = m$\\&#10;\hspace*{2em}\makebox[1em][l]{2.} Find min.\ $V[\hat{Z}(u_0) - Z(u_0)]$\\&#10;Expand the variance and take its partial derivative with $\lambda_1, \ldots, \lambda_n$, we get:&#10;\[&#10;\begin{bmatrix}&#10;\operatorname{Cov}[\epsilon(u_1), \epsilon(u_1)] &amp; \cdots &amp; \operatorname{Cov}[\epsilon(u_1), \epsilon(u_n)]\\&#10;\vdots &amp; \ddots &amp; \vdots\\&#10;\operatorname{Cov}[\epsilon(u_n), \epsilon(u_1)] &amp; \cdots &amp; \operatorname{Cov}[\epsilon(u_n), \epsilon(u_n)]&#10;\end{bmatrix}&#10;\,&#10;\begin{bmatrix}&#10;\lambda_1\\&#10;\vdots\\&#10;\lambda_n&#10;\end{bmatrix}&#10;=&#10;\begin{bmatrix}&#10;\operatorname{Cov}[\epsilon(u_1), \epsilon(u_0)]\\&#10;\vdots\\&#10;\operatorname{Cov}[\epsilon(u_0), \epsilon(u_n)]&#10;\end{bmatrix}&#10;\]&#10;&#10;\noindent&#10;Solving $\lambda_1 \ldots \lambda_n$ through linear equations.\\&#10;However, $\operatorname{Cov}[\epsilon(u_i), \epsilon(u_j)]$ is unknown.\\&#10;Next, we will fit them with a Spherical variogram model.&#10;&#10;\end{document}"/>
  <p:tag name="IGUANATEXSIZE" val="20"/>
  <p:tag name="IGUANATEXCURSOR" val="1051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975.253"/>
  <p:tag name="ORIGINALWIDTH" val=" 4280.465"/>
  <p:tag name="OUTPUTTYPE" val="PNG"/>
  <p:tag name="IGUANATEXVERSION" val="162"/>
  <p:tag name="LATEXADDIN" val="\documentclass{article}&#10;\usepackage{amsmath}&#10;\usepackage{setspace}&#10;\pagestyle{empty}&#10;\onehalfspacing&#10;&#10;\begin{document}&#10;\noindent&#10;Spatial related assumptions: \\&#10;\hspace*{2em}\makebox[1em][l]{1.}Correlation: close $&gt;$ far\\&#10;\hspace*{2em}\makebox[1em][l]{2.}The mean value is a constant\\&#10;\hspace*{2em}\makebox[1em][l]{3.}Covariance depends only on distance $h$ and is independent with location.\\&#10;Let $C(h)=Cov[Z(u), Z(u+h)]$\\&#10;Define Variogram:&#10;\begin{align*}&#10;\gamma(h) &amp;= \frac{1}{2}E[Z(u)-Z(u+h)]^2\\&#10;&amp;=\frac{1}{2}[2V(Z)-2C(h)]\\&#10;&amp;=C(0)-C(h)&#10;\end{align*}&#10;&#10;\end{document}"/>
  <p:tag name="IGUANATEXSIZE" val="20"/>
  <p:tag name="IGUANATEXCURSOR" val="572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256.093"/>
  <p:tag name="ORIGINALWIDTH" val=" 4288.714"/>
  <p:tag name="OUTPUTTYPE" val="PNG"/>
  <p:tag name="IGUANATEXVERSION" val="162"/>
  <p:tag name="LATEXADDIN" val="\documentclass{article}&#10;\usepackage{amsmath}&#10;\usepackage{setspace}&#10;\pagestyle{empty}&#10;\onehalfspacing&#10;&#10;\begin{document}&#10;\noindent&#10;\makebox[1em][l]{1.}Sill\\&#10;The value that the semivariogram approaches as the distance nears infinity. The greater the distance, the lower the correlation:&#10;\begin{align*}&#10;Let \;\lim_{h\to\infty}C(h)&amp;=0\\&#10;\Rightarrow sill &amp;= \lim_{h\to\infty}\gamma(h)=\lim_{h\to\infty}[C(0)-C(h)]=C(0)&#10;\end{align*}&#10;\makebox[1em][l]{2.}Range\\&#10;The distance at which the semivariogram reaches the sill. Beyond this distance, spatial correlation between observations becomes negligible:&#10;$$h&gt;range \Rightarrow Z(u) \perp Z(u+h)$$&#10;\makebox[1em][l]{3.}Nugget\\&#10;The semivariance at an infinitesimally small separation distance. It reflects measurement error or spatial variability occurring at distances smaller than the sampling distance:&#10;$$\gamma(0^+)=C_0&gt;0$$&#10;\end{document}"/>
  <p:tag name="IGUANATEXSIZE" val="20"/>
  <p:tag name="IGUANATEXCURSOR" val="376"/>
  <p:tag name="TRANSPARENCY" val="True"/>
  <p:tag name="CHOOSECOLOR" val="False"/>
  <p:tag name="COLORHEX" val="000000"/>
  <p:tag name="LATEXENGINEID" val="0"/>
  <p:tag name="TEMPFOLDER" val="c:\temp\"/>
  <p:tag name="LATEXFORMHEIGHT" val=" 363"/>
  <p:tag name="LATEXFORMWIDTH" val=" 385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48.4439"/>
  <p:tag name="ORIGINALWIDTH" val=" 4299.212"/>
  <p:tag name="OUTPUTTYPE" val="PNG"/>
  <p:tag name="IGUANATEXVERSION" val="162"/>
  <p:tag name="LATEXADDIN" val="\documentclass{article}&#10;\usepackage{amsmath}&#10;\usepackage{setspace}&#10;\pagestyle{empty}&#10;\onehalfspacing&#10;&#10;\begin{document}&#10;\begin{equation*}&#10;\gamma(h)=&#10;\begin{cases}&#10;c_0+c[\frac{3}{2}\frac{h}{a}-\frac{1}{2}(\frac{h}{a})^3]&amp;,\;0\leq h \leq a\\&#10;c_0+c&amp;,\;h&gt;a&#10;\end{cases}&#10;\quad \text{,where $c$: sill, $a$: range, $c_0$: nugget}&#10;\end{equation*}&#10;\end{document}"/>
  <p:tag name="IGUANATEXSIZE" val="20"/>
  <p:tag name="IGUANATEXCURSOR" val="351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98.6877"/>
  <p:tag name="ORIGINALWIDTH" val=" 1751.031"/>
  <p:tag name="OUTPUTTYPE" val="PNG"/>
  <p:tag name="IGUANATEXVERSION" val="162"/>
  <p:tag name="LATEXADDIN" val="\documentclass{article}&#10;\usepackage{amsmath}&#10;\usepackage{setspace}&#10;\pagestyle{empty}&#10;\onehalfspacing&#10;&#10;\begin{document}&#10;\noindent&#10;1. $h=0 \Rightarrow \gamma=0 $ ( $c(h)=c(0)$ )\\&#10;2. $h=a \Rightarrow \gamma=c $ ( $c(h)=0$ )\\&#10;3. $h&gt;a \Rightarrow \gamma=c $ ( $c(h)=0$ )&#10;\end{document}"/>
  <p:tag name="IGUANATEXSIZE" val="20"/>
  <p:tag name="IGUANATEXCURSOR" val="282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349.456"/>
  <p:tag name="ORIGINALWIDTH" val=" 4266.217"/>
  <p:tag name="OUTPUTTYPE" val="PNG"/>
  <p:tag name="IGUANATEXVERSION" val="162"/>
  <p:tag name="LATEXADDIN" val="\documentclass{article}&#10;\usepackage{amsmath}&#10;\pagestyle{empty}&#10;\usepackage{setspace}&#10;&#10;\begin{document}&#10;\noindent&#10;1. Simple Kriging:\\&#10;\[&#10;\begin{bmatrix}&#10;\operatorname{Cov}[\epsilon(u_1), \epsilon(u_1)] &amp; \cdots &amp; \operatorname{Cov}[\epsilon(u_1), \epsilon(u_n)]\\&#10;\vdots &amp; \ddots &amp; \vdots\\&#10;\operatorname{Cov}[\epsilon(u_n), \epsilon(u_1)] &amp; \cdots &amp; \operatorname{Cov}[\epsilon(u_n), \epsilon(u_n)]&#10;\end{bmatrix}&#10;\,&#10;\begin{bmatrix}&#10;\lambda_1\\&#10;\vdots\\&#10;\lambda_n&#10;\end{bmatrix}&#10;=&#10;\begin{bmatrix}&#10;\operatorname{Cov}[\epsilon(u_1), \epsilon(u_0)]\\&#10;\vdots\\&#10;\operatorname{Cov}[\epsilon(u_0), \epsilon(u_n)]&#10;\end{bmatrix}&#10;\]&#10;$$\hat{Z}(u_0)=\sum\lambda_i Z(u_i)$$&#10;2. Unknown $\operatorname{Cov}[\epsilon(u_i), \epsilon(u_j)]\Rightarrow$ estimated by Spherical Variogram model $\gamma(h)$\\&#10;3. Because $\gamma(h)=C(0)-C(h)$:&#10;\begin{align*}&#10;\operatorname{Cov}[\epsilon(u_i), \epsilon(u_j)]&#10;&amp;=\operatorname{Cov}[Z(u_i), Z(u_j)]\\&#10;&amp;=C(h_{ij})\\&#10;&amp;=C(0)-\gamma(h_{ij})&#10;\end{align*}&#10;4. Substituting the result of (3.) into (1.) to obtain $\lambda_1, \ldots,\lambda_n$&#10;&#10;\end{document}"/>
  <p:tag name="IGUANATEXSIZE" val="20"/>
  <p:tag name="IGUANATEXCURSOR" val="1072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864</TotalTime>
  <Words>1428</Words>
  <Application>Microsoft Office PowerPoint</Application>
  <PresentationFormat>寬螢幕</PresentationFormat>
  <Paragraphs>158</Paragraphs>
  <Slides>21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7" baseType="lpstr">
      <vt:lpstr>標楷體</vt:lpstr>
      <vt:lpstr>Arial</vt:lpstr>
      <vt:lpstr>Calibri</vt:lpstr>
      <vt:lpstr>Calibri Light</vt:lpstr>
      <vt:lpstr>CMU Serif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ricki len</dc:creator>
  <cp:lastModifiedBy>ricki len</cp:lastModifiedBy>
  <cp:revision>9</cp:revision>
  <dcterms:created xsi:type="dcterms:W3CDTF">2026-02-06T08:38:10Z</dcterms:created>
  <dcterms:modified xsi:type="dcterms:W3CDTF">2026-02-10T05:37:10Z</dcterms:modified>
</cp:coreProperties>
</file>