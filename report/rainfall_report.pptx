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26E95-540F-6A67-2877-0B9F1739A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E222F1A-E08D-4C1C-F8CA-591F19036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A33349-2780-F1DE-877F-03BB6D254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33BD3D-261A-8ADE-B11E-72D37ECA3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32AB320-4EDA-25CB-56AE-BB31BF25B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464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211F6C-5C17-1FAE-B4E3-E078E78AA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C5557E4-CB46-CF64-B8BD-153F54443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F61226-E078-333C-E7D4-F1E6B76A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F9B423-FCD7-629C-5B4E-D590DE94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077F8A-1E3F-21A0-942F-1A52A58C3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9845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33BD06-0FDE-D5B8-42EC-740BDEC1F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EF3DC64-B25B-03CD-28CA-4DFA199554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495616-066C-8740-8A65-9B3C26AA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2AC7D99-8BD0-C3B3-DE8E-A415DFDAD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DDF187-28A3-3851-C904-6813A969B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407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CD396B-EDFC-705C-2F3B-0407E0D0D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9E43B-0A44-2F0A-BB3C-2F9362E86C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DD443EE-530F-90D8-E2FC-6047B3E4D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1822C6C-A13F-E709-543E-0F6F0A4B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673E542-CEFA-B78D-A2E6-E791F4878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19C2518-6C34-7810-FC0D-94B499325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0372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31AA3-5327-62F8-A4FA-4D2E1DBA7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D321CC-70C6-7764-FC92-A16B905F7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B52C95A-F0C6-240C-44F8-18A813DC8B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361842E-E182-8B6A-A89F-AA7A1407A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23E197F-E0DE-4E3E-E23F-066BC4C75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AD0CD9D-2133-3947-AF69-2A49C9883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22621C-59F0-CFC9-82CA-A6D337D35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5897ABC-D3BD-AFEE-5799-C1510A3E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0255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FC434-0D3F-DF78-0169-736564664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0166A15-E36D-5637-8DF7-ED416E5DE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2FF5426-2361-3F3C-B14D-24D9409B4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7CD0D9-DAD0-0200-9B7E-E84CDD2A5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6814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CAFBC21-3231-1C39-FC11-926EC4FFF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B812E6B-3661-7435-7A81-77B00A8F3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A3FD86-F33B-517B-74EC-4E9E53050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3512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3171F-75F0-A63D-7DD5-152E5D9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656AC8-8BD4-A46D-12D6-BFC5D0C1F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D8B0F5A-DBC7-3B30-F76C-9AF6959B4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88E2D67-0C57-0687-61AC-ABABE020F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64CB42-89CF-7935-3998-59BA63755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E4B7B5-0C46-FB95-287C-3A6E5D79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4034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43C97-1E6B-A362-92C1-4C0B4C2AF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C7D2458-AC1B-0BC9-3ADE-FF671642A3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69E334D-C736-FDB6-CF05-DB7CCFDCB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F5891D9-135E-7EC7-19AA-CEA9F2628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4DF7F3F-8EC0-C5C8-B762-A75C9D763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F98B1D-F893-263B-ACAB-84A2DA72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375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476F06-C35A-2407-A105-46583C142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0C96A1-2F64-5CAD-3C0E-C4B722B89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D5715E-594B-DE9D-2B2F-707EBE3DF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83F906-E7C7-F692-C39A-49A3309E8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1B1C4B-E16F-A8C4-9455-72D4E9F05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7646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81CB110-D20D-EE44-8F17-2AD6EF1DD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E98B36C-525B-40FB-0616-E10ED90A2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2FE02B-6573-2A34-C181-0CA2B46A1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B56AFA2-0EE0-A258-77F9-61D82A9F4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D799FB-2AA0-1A14-8FDC-4E41F161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9742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AA68FDE-F45F-5C35-0D4F-54B089D9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EFFE46C-AEA8-5791-8702-D8303FC8F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21DB7A-A06C-9A02-569E-D551F1C5EA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45493-35B4-4159-803A-59E339B62678}" type="datetimeFigureOut">
              <a:rPr lang="zh-TW" altLang="en-US" smtClean="0"/>
              <a:t>2026/2/6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77FC9B-F999-EC99-2D8A-E7BF42323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C2D60D-376B-EBF4-5696-54F1EAD84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4959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23849D50-B317-EA3F-5CF1-7FEA3DDEFDE4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Cleaning and Analysis of Special Codes in Automatic Station Rainfall Data (December 2023)</a:t>
            </a:r>
            <a:endParaRPr lang="zh-TW" altLang="en-US" sz="3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215BB4B-36FE-3544-1992-EDFEB580BDFC}"/>
              </a:ext>
            </a:extLst>
          </p:cNvPr>
          <p:cNvSpPr txBox="1"/>
          <p:nvPr/>
        </p:nvSpPr>
        <p:spPr>
          <a:xfrm>
            <a:off x="3048000" y="395356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YUNG-CHUN LAN</a:t>
            </a:r>
            <a:endParaRPr lang="zh-TW" altLang="en-US" sz="28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BE03FDF-0205-5835-F8DE-290AAD717C52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7131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5F521B3-0AC9-CEAD-22CD-A73D17DC94D4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Outline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B91E72-2285-40AA-2820-006E0B468543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1183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BF3F5-159C-5B4C-1F7B-93BE2377E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FC46CB3-7A9E-F1C3-BD6C-AB876346C12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269C20-42DF-83D4-2264-6AA8FD50C95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PP01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資料探索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4B307AD-AF99-46E8-3BC7-D0AFA3149CC3}"/>
              </a:ext>
            </a:extLst>
          </p:cNvPr>
          <p:cNvSpPr txBox="1"/>
          <p:nvPr/>
        </p:nvSpPr>
        <p:spPr>
          <a:xfrm>
            <a:off x="1307306" y="2403425"/>
            <a:ext cx="575071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欄位內容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總列數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469170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-999.1(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儀器故障待修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): 4464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資料累積於後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): 13715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-999.5(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因故障而無資料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): 189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None(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未觀測而無資料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): 1176</a:t>
            </a:r>
            <a:endParaRPr lang="zh-TW" altLang="en-US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6E307DC-C6BA-60F3-DB4A-73395476A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9919" y="865342"/>
            <a:ext cx="4962925" cy="5498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253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0ABA75F-FD9E-3ACE-C3BC-8B9954CFCE29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39D13C-5521-5E63-2B78-C688667C80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PP01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資料生成機制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9E5565D-29A3-D1E8-8C42-FC985B07CA47}"/>
              </a:ext>
            </a:extLst>
          </p:cNvPr>
          <p:cNvSpPr txBox="1"/>
          <p:nvPr/>
        </p:nvSpPr>
        <p:spPr>
          <a:xfrm>
            <a:off x="526256" y="1260247"/>
            <a:ext cx="57507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雨水過濾斗，進入接水器，累積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0.5mm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後將水傾倒，產生脈衝信號，傳輸到紀錄器上，因此可看到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資料是以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0.5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mm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為單位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79349BE-8362-6A8A-2E05-285D460D40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250" y="1695092"/>
            <a:ext cx="4953000" cy="3724275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BD886365-5438-17D5-F18C-705F70D13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05" y="2942867"/>
            <a:ext cx="5568220" cy="2913402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06FCDE18-947C-C536-B661-76ED7F87955D}"/>
              </a:ext>
            </a:extLst>
          </p:cNvPr>
          <p:cNvSpPr txBox="1"/>
          <p:nvPr/>
        </p:nvSpPr>
        <p:spPr>
          <a:xfrm>
            <a:off x="5649824" y="6254948"/>
            <a:ext cx="65421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Source: </a:t>
            </a:r>
            <a:r>
              <a:rPr lang="zh-TW" altLang="en-US" sz="1400" dirty="0">
                <a:latin typeface="CMU Serif" panose="02000603000000000000" pitchFamily="2" charset="0"/>
                <a:cs typeface="CMU Serif" panose="02000603000000000000" pitchFamily="2" charset="0"/>
              </a:rPr>
              <a:t>中央氣象署官網 </a:t>
            </a:r>
            <a:r>
              <a:rPr lang="en-US" altLang="zh-TW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(https://south.cwa.gov.tw/inner/meck1572422009QjcD)</a:t>
            </a:r>
            <a:endParaRPr lang="zh-TW" altLang="en-US" sz="1400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729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E2D33-155F-7EED-0FD4-46DF9DF0F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D79C492-30D9-FE12-D774-B089F643084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2C6802-9BBB-2BEA-27C8-CC727993356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-999.6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分析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BEC9ACB3-2FEA-2BAF-97D9-1E685D24039E}"/>
              </a:ext>
            </a:extLst>
          </p:cNvPr>
          <p:cNvSpPr txBox="1"/>
          <p:nvPr/>
        </p:nvSpPr>
        <p:spPr>
          <a:xfrm>
            <a:off x="3257838" y="2046711"/>
            <a:ext cx="5801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</a:t>
            </a:r>
            <a:r>
              <a:rPr lang="zh-TW" altLang="en-US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國家災害防救科技中心氣象組 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台灣地區短延時強降雨事件氣候特性分析</a:t>
            </a:r>
            <a:endParaRPr lang="en-US" altLang="zh-TW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二、資料、定義與分析方法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(https://reurl.cc/dqN0x8)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6D3ED6F-2887-544C-FCEC-3F122ABA502B}"/>
              </a:ext>
            </a:extLst>
          </p:cNvPr>
          <p:cNvSpPr txBox="1"/>
          <p:nvPr/>
        </p:nvSpPr>
        <p:spPr>
          <a:xfrm>
            <a:off x="488156" y="1213098"/>
            <a:ext cx="88844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工程邏輯上，出現無線電訊號中斷，該時間點會標記為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，並在恢復信號時間點將中斷期間的雨量觀測累加於後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392AEC6-24D1-AEB8-EABF-2D55152FF12F}"/>
              </a:ext>
            </a:extLst>
          </p:cNvPr>
          <p:cNvSpPr txBox="1"/>
          <p:nvPr/>
        </p:nvSpPr>
        <p:spPr>
          <a:xfrm>
            <a:off x="488156" y="2784723"/>
            <a:ext cx="857127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資料分析層面，使用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｢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資料累積於後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(-999.6)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」，而不是直接補上斷訊期間脈衝，推測回補機制並非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100%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可靠。我們也能觀察到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0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  <a:sym typeface="Wingdings" panose="05000000000000000000" pitchFamily="2" charset="2"/>
              </a:rPr>
              <a:t>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 -999.6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  <a:sym typeface="Wingdings" panose="05000000000000000000" pitchFamily="2" charset="2"/>
              </a:rPr>
              <a:t>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 0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的數據，在此情況卻不將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-999.6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設定為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0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，顯示其不確定性。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3420DB60-466E-D41D-025B-75003B95D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2124" y="2041952"/>
            <a:ext cx="905001" cy="4429743"/>
          </a:xfrm>
          <a:prstGeom prst="rect">
            <a:avLst/>
          </a:prstGeom>
        </p:spPr>
      </p:pic>
      <p:sp>
        <p:nvSpPr>
          <p:cNvPr id="12" name="橢圓 11">
            <a:extLst>
              <a:ext uri="{FF2B5EF4-FFF2-40B4-BE49-F238E27FC236}">
                <a16:creationId xmlns:a16="http://schemas.microsoft.com/office/drawing/2014/main" id="{1D0B570F-A5F5-5ECA-60F1-BC4462D572F1}"/>
              </a:ext>
            </a:extLst>
          </p:cNvPr>
          <p:cNvSpPr/>
          <p:nvPr/>
        </p:nvSpPr>
        <p:spPr>
          <a:xfrm>
            <a:off x="9591675" y="5029200"/>
            <a:ext cx="1581150" cy="8382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20882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8A474-B399-D849-C454-780A4AEF9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8DCB232-3844-4AC8-F738-F0F7BD9F9A6C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F9CEFB-5908-A160-40DF-C5158F0336BC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-999.6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處理原則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52EC8EC-084F-1E44-5E00-33F0DB5E60B0}"/>
              </a:ext>
            </a:extLst>
          </p:cNvPr>
          <p:cNvSpPr txBox="1"/>
          <p:nvPr/>
        </p:nvSpPr>
        <p:spPr>
          <a:xfrm>
            <a:off x="631031" y="1165770"/>
            <a:ext cx="972264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參考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Classical Serif" panose="02000603000000000000" pitchFamily="2" charset="0"/>
              </a:rPr>
              <a:t>Guide to Climatological Practices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(WMO-No.100)</a:t>
            </a:r>
          </a:p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提及之氣象資料缺失值處理原則，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-999.6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處理方式如下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不更動原數據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新增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PP01_cleaned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欄位，將各種原因導致之遺失值全部改為 </a:t>
            </a:r>
            <a:r>
              <a:rPr lang="en-US" altLang="zh-TW" sz="2400" dirty="0" err="1">
                <a:latin typeface="CMU Serif" panose="02000603000000000000" pitchFamily="2" charset="0"/>
                <a:ea typeface="標楷體" panose="03000509000000000000" pitchFamily="65" charset="-120"/>
              </a:rPr>
              <a:t>na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新增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PP01_accumulated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欄位，出現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及標註為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True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新增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PP01_caaumulated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欄位標註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影響範圍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-999.6: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標示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True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且下一列不為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0: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下一列標示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True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且下一列為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0: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下一列標示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False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分析者可根據不同需求使用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mask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73B0945-D80A-7847-6F0E-902CEC73B67F}"/>
              </a:ext>
            </a:extLst>
          </p:cNvPr>
          <p:cNvSpPr txBox="1"/>
          <p:nvPr/>
        </p:nvSpPr>
        <p:spPr>
          <a:xfrm>
            <a:off x="5695950" y="6191249"/>
            <a:ext cx="659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CMU Classical Serif" panose="02000603000000000000" pitchFamily="2" charset="0"/>
                <a:ea typeface="CMU Classical Serif" panose="02000603000000000000" pitchFamily="2" charset="0"/>
                <a:cs typeface="CMU Classical Serif" panose="02000603000000000000" pitchFamily="2" charset="0"/>
              </a:rPr>
              <a:t>Source: Guide to Climatological Practices</a:t>
            </a:r>
            <a:r>
              <a:rPr lang="en-US" altLang="zh-TW" sz="1400" dirty="0"/>
              <a:t> </a:t>
            </a:r>
            <a:r>
              <a:rPr lang="en-US" altLang="zh-TW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(WMO-No.100) 2.4.5 Quality Control</a:t>
            </a:r>
          </a:p>
        </p:txBody>
      </p:sp>
    </p:spTree>
    <p:extLst>
      <p:ext uri="{BB962C8B-B14F-4D97-AF65-F5344CB8AC3E}">
        <p14:creationId xmlns:p14="http://schemas.microsoft.com/office/powerpoint/2010/main" val="1602499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9A5C9-1252-CB57-3661-F617B3ED9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2CEA76A-72FC-4C7E-2D42-145BB82234FB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BD6FB5-E3F4-35F3-171E-310A03A05A1B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4590A6D-F5FA-9015-FC40-32F14E29E798}"/>
              </a:ext>
            </a:extLst>
          </p:cNvPr>
          <p:cNvSpPr txBox="1"/>
          <p:nvPr/>
        </p:nvSpPr>
        <p:spPr>
          <a:xfrm>
            <a:off x="437819" y="1029413"/>
            <a:ext cx="926306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目標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參考氣象署雨量網格化生產履歷，產出全台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12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月月雨量網格資料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dirty="0"/>
              <a:t>資料需求</a:t>
            </a:r>
            <a:r>
              <a:rPr lang="en-US" altLang="zh-TW" dirty="0"/>
              <a:t>:</a:t>
            </a:r>
            <a:r>
              <a:rPr lang="zh-TW" altLang="en-US" dirty="0"/>
              <a:t> 測站月雨量、測站經緯度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月雨量</a:t>
            </a:r>
            <a:r>
              <a:rPr lang="en-US" altLang="zh-TW" dirty="0"/>
              <a:t>:</a:t>
            </a:r>
            <a:r>
              <a:rPr lang="zh-TW" altLang="en-US" dirty="0"/>
              <a:t> 以測站為單位，將同測站逐時雨量加總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測站經緯度</a:t>
            </a:r>
            <a:r>
              <a:rPr lang="en-US" altLang="zh-TW" dirty="0"/>
              <a:t>:</a:t>
            </a:r>
            <a:r>
              <a:rPr lang="zh-TW" altLang="en-US" dirty="0"/>
              <a:t> 爬取中央氣象署雨量觀測站</a:t>
            </a:r>
            <a:r>
              <a:rPr lang="en-US" altLang="zh-TW" dirty="0"/>
              <a:t>-</a:t>
            </a:r>
            <a:r>
              <a:rPr lang="zh-TW" altLang="en-US" dirty="0"/>
              <a:t>雨量資料（</a:t>
            </a:r>
            <a:r>
              <a:rPr lang="en-US" altLang="zh-TW" dirty="0"/>
              <a:t>O-A0002-001</a:t>
            </a:r>
            <a:r>
              <a:rPr lang="zh-TW" altLang="en-US" dirty="0"/>
              <a:t>）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欄位包含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stno</a:t>
            </a:r>
            <a:r>
              <a:rPr lang="zh-TW" altLang="en-US" dirty="0"/>
              <a:t>、</a:t>
            </a:r>
            <a:r>
              <a:rPr lang="en-US" altLang="zh-TW" dirty="0" err="1"/>
              <a:t>lon</a:t>
            </a:r>
            <a:r>
              <a:rPr lang="zh-TW" altLang="en-US" dirty="0"/>
              <a:t>、</a:t>
            </a:r>
            <a:r>
              <a:rPr lang="en-US" altLang="zh-TW" dirty="0" err="1"/>
              <a:t>lat</a:t>
            </a:r>
            <a:r>
              <a:rPr lang="zh-TW" altLang="en-US" dirty="0"/>
              <a:t>、</a:t>
            </a:r>
            <a:r>
              <a:rPr lang="en-US" altLang="zh-TW" dirty="0" err="1"/>
              <a:t>rain_dec</a:t>
            </a:r>
            <a:endParaRPr lang="en-US" altLang="zh-TW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6892F524-924F-68D4-8738-51D1725104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2245440"/>
            <a:ext cx="5803490" cy="273859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EF1B8733-A3B4-1B79-7F62-65D79E4C2637}"/>
              </a:ext>
            </a:extLst>
          </p:cNvPr>
          <p:cNvSpPr txBox="1"/>
          <p:nvPr/>
        </p:nvSpPr>
        <p:spPr>
          <a:xfrm>
            <a:off x="5264560" y="5824061"/>
            <a:ext cx="692744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CMU Classical Serif" panose="02000603000000000000" pitchFamily="2" charset="0"/>
                <a:ea typeface="CMU Classical Serif" panose="02000603000000000000" pitchFamily="2" charset="0"/>
                <a:cs typeface="CMU Classical Serif" panose="02000603000000000000" pitchFamily="2" charset="0"/>
              </a:rPr>
              <a:t>Source:</a:t>
            </a:r>
          </a:p>
          <a:p>
            <a:r>
              <a:rPr lang="zh-TW" altLang="en-US" sz="1400" dirty="0"/>
              <a:t>中央氣象署雨量網格化生產履歷</a:t>
            </a:r>
            <a:r>
              <a:rPr lang="en-US" altLang="zh-TW" sz="1400" dirty="0"/>
              <a:t>:</a:t>
            </a:r>
            <a:r>
              <a:rPr lang="zh-TW" altLang="en-US" sz="1400" dirty="0"/>
              <a:t> </a:t>
            </a:r>
            <a:r>
              <a:rPr lang="en-US" altLang="zh-TW" sz="1400" dirty="0"/>
              <a:t>https://www.cwa.gov.tw/Data/data_catalog/2-3-6-a.pdf</a:t>
            </a:r>
            <a:endParaRPr lang="en-US" altLang="zh-TW" sz="1400" dirty="0">
              <a:latin typeface="CMU Classical Serif" panose="02000603000000000000" pitchFamily="2" charset="0"/>
              <a:ea typeface="CMU Classical Serif" panose="02000603000000000000" pitchFamily="2" charset="0"/>
              <a:cs typeface="CMU Classical Serif" panose="02000603000000000000" pitchFamily="2" charset="0"/>
            </a:endParaRPr>
          </a:p>
          <a:p>
            <a:r>
              <a:rPr lang="zh-TW" altLang="en-US" sz="1400" dirty="0"/>
              <a:t>中央氣象署雨量資料</a:t>
            </a:r>
            <a:r>
              <a:rPr lang="en-US" altLang="zh-TW" sz="1400" dirty="0"/>
              <a:t>:</a:t>
            </a:r>
            <a:r>
              <a:rPr lang="zh-TW" altLang="en-US" sz="1400" dirty="0"/>
              <a:t>  </a:t>
            </a:r>
            <a:r>
              <a:rPr lang="en-US" altLang="zh-TW" sz="1400" dirty="0"/>
              <a:t>https://opendata.cwa.gov.tw/dataset/observation/O-A0002-001?</a:t>
            </a:r>
            <a:endParaRPr lang="en-US" altLang="zh-TW" sz="14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0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DE3C3-5FE5-0327-FA0C-42CF80F0F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1B3E2B6-1671-8682-705C-1B28FC74813B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C17C1CF-4309-71B8-F6A6-4D1B0226B10E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建立全台網格系統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ADA37F8-359F-0C29-FB8A-C67D47F0CB48}"/>
              </a:ext>
            </a:extLst>
          </p:cNvPr>
          <p:cNvSpPr txBox="1"/>
          <p:nvPr/>
        </p:nvSpPr>
        <p:spPr>
          <a:xfrm>
            <a:off x="776288" y="1322545"/>
            <a:ext cx="531971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設定網格空間範圍：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左下角經緯度為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(117.43, 20.76)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右上角經緯度為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(123.92, 26.70)</a:t>
            </a:r>
          </a:p>
          <a:p>
            <a:pPr marL="342900" indent="-342900">
              <a:buFont typeface="+mj-lt"/>
              <a:buAutoNum type="arabicPeriod"/>
            </a:pP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設定網格解析度：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2.5 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公里解析度，網格大小為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260 × 260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003265C-0BE8-7F81-37A7-582C45EB0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463" y="2953021"/>
            <a:ext cx="6973273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418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6264A-C25C-AC0C-2B1B-6980D7BA1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9C3E825-40C4-C4F5-FF2D-32D883F2F5A3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15C61B-16ED-EA20-6930-4A75379CFB14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網格點雨量估計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527B52E-B05E-B92E-4A11-1FCB39B0B2CA}"/>
              </a:ext>
            </a:extLst>
          </p:cNvPr>
          <p:cNvSpPr txBox="1"/>
          <p:nvPr/>
        </p:nvSpPr>
        <p:spPr>
          <a:xfrm>
            <a:off x="519113" y="914400"/>
            <a:ext cx="573881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Simple Kriging Interpolation </a:t>
            </a:r>
          </a:p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估計網格點雨量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相關設置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Mean = 0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附近無測站地區估計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0)</a:t>
            </a:r>
          </a:p>
          <a:p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Variogram model: Spherical</a:t>
            </a:r>
          </a:p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詳細手寫推導與方法說明見附錄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EA5ED105-6EA0-0A63-EF26-DF54D6930E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96" t="2301" r="1925"/>
          <a:stretch>
            <a:fillRect/>
          </a:stretch>
        </p:blipFill>
        <p:spPr>
          <a:xfrm>
            <a:off x="5643562" y="914400"/>
            <a:ext cx="6429375" cy="5257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8462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664</Words>
  <Application>Microsoft Office PowerPoint</Application>
  <PresentationFormat>寬螢幕</PresentationFormat>
  <Paragraphs>63</Paragraphs>
  <Slides>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6" baseType="lpstr">
      <vt:lpstr>標楷體</vt:lpstr>
      <vt:lpstr>Arial</vt:lpstr>
      <vt:lpstr>Calibri</vt:lpstr>
      <vt:lpstr>Calibri Light</vt:lpstr>
      <vt:lpstr>CMU Classical Serif</vt:lpstr>
      <vt:lpstr>CMU Serif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ricki len</dc:creator>
  <cp:lastModifiedBy>ricki len</cp:lastModifiedBy>
  <cp:revision>3</cp:revision>
  <dcterms:created xsi:type="dcterms:W3CDTF">2026-02-06T08:38:10Z</dcterms:created>
  <dcterms:modified xsi:type="dcterms:W3CDTF">2026-02-06T11:14:41Z</dcterms:modified>
</cp:coreProperties>
</file>